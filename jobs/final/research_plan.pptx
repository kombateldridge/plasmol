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comparison, not a chosen dye. The molecule and the nanoparticle are unset. Step 1, the literature and the valence screen, is done. Steps 2–7 have inputs whose molecule and nanoparticle fields are still placeholders. Do not launch a file that contains PLACEHOLDER_.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published result is a difference. DCH plus nanoparticle plus CAP plus a pulse mixes four causes. Dynamics are mo_occ.csv. Spectra are cross_section. If there is no incident source, do not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rerun these checks instead of Steps 2–8, and do not overlay their traces on the new jobs. The DCH panel is the Cartesian PySCF sweep against the digitized Nascimento Fig. 8a. Inputs that say driver dch are retired.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separate step for choosing the pair. Choose it, then fill the placeholders, then launch. Steps 2–7 are the resonant pair. Step 7 changes only the gap. Step 8 is the pair whose resonances do not overlap, still at 0.015 μm.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thioindigo is later selected, match the calculated root at 417 nm, not the benzene maximum. The 418.5 nm number is the Rakic Ag dielectric, not Ag_visible. Meep marks that Palik fit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μ and ε₀ are tuned for the chosen molecule. The pentanone pair, 0.34272 and 0.003028 Ha, is not pasted in. A CAP-off job must use the same μ as its CAP-on partner. ε₀ appears only in the CAP block. Do not launch until every PLACEHOLDER_ token in that file is a real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launch Step 3 until the resonant survey has been run and the core index is written into the DCH files. The trial lives in Step_2/thioindigo_trial.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D3–D6 have no Meep source and cannot checkpoint. Do not treat them as cross sections. Neutral field-free dynamics are not in the matrix: with no hole and no field the density does not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jobs can checkpoint. A core hole writes mo_occ.csv under x_dir, y_dir, and z_dir. Lower gamma before treating the 4000 au trace as higher resolution. The dipole is already small by a few hundred 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reuse a vacuum reference computed with a different source or a different dt. The plot window is a placeholder until the bright root is known. gamma is 0 on these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does not repeat molecule-only jobs. D1 and G2 have no nanoparticle. No CAP and no perpendicular run. The detuned pair stays at 0.015 μm so distance and resonance are not changed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K1 is what makes detuned a measurement. Do not repeat the CAP rows, the Step 6 controls, or the Step 7 gaps. If only the nanoparticle changes, reuse D1, K1, K3, G1, and G2.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runs only if resonant G4 − G2 is nonzero. Step 8 stays at 0.015 μm. Hybrid jobs cannot checkpoint. Publish peak-normalized curves when the claim is that a peak moved or broadened.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20"/>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A7A79A"/>
                </a:solidFill>
                <a:latin typeface="Arial" pitchFamily="34" charset="0"/>
                <a:ea typeface="Arial" pitchFamily="34" charset="-122"/>
                <a:cs typeface="Arial" pitchFamily="34" charset="-120"/>
              </a:rPr>
              <a:t>PLASMOL   ·   JOBS / FINAL</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A7A79A"/>
                </a:solidFill>
                <a:latin typeface="Arial" pitchFamily="34" charset="0"/>
                <a:ea typeface="Arial" pitchFamily="34" charset="-122"/>
                <a:cs typeface="Arial" pitchFamily="34" charset="-120"/>
              </a:rPr>
              <a:t>01  /  13</a:t>
            </a:r>
            <a:endParaRPr lang="en-US" sz="1100" dirty="0"/>
          </a:p>
        </p:txBody>
      </p:sp>
      <p:sp>
        <p:nvSpPr>
          <p:cNvPr id="4" name="Shape 2"/>
          <p:cNvSpPr/>
          <p:nvPr/>
        </p:nvSpPr>
        <p:spPr>
          <a:xfrm>
            <a:off x="640080" y="1051560"/>
            <a:ext cx="3063240" cy="347472"/>
          </a:xfrm>
          <a:prstGeom prst="rect">
            <a:avLst/>
          </a:prstGeom>
          <a:solidFill>
            <a:srgbClr val="1B2420"/>
          </a:solidFill>
          <a:ln w="9525">
            <a:solidFill>
              <a:srgbClr val="A7A79A"/>
            </a:solidFill>
            <a:prstDash val="solid"/>
          </a:ln>
        </p:spPr>
      </p:sp>
      <p:sp>
        <p:nvSpPr>
          <p:cNvPr id="5" name="Text 3"/>
          <p:cNvSpPr/>
          <p:nvPr/>
        </p:nvSpPr>
        <p:spPr>
          <a:xfrm>
            <a:off x="640080" y="1051560"/>
            <a:ext cx="3063240" cy="347472"/>
          </a:xfrm>
          <a:prstGeom prst="rect">
            <a:avLst/>
          </a:prstGeom>
          <a:noFill/>
          <a:ln/>
        </p:spPr>
        <p:txBody>
          <a:bodyPr wrap="square" lIns="0" tIns="0" rIns="0" bIns="0" rtlCol="0" anchor="ctr"/>
          <a:lstStyle/>
          <a:p>
            <a:pPr algn="ctr" indent="0" marL="0">
              <a:buNone/>
            </a:pPr>
            <a:r>
              <a:rPr lang="en-US" sz="1100" spc="140" kern="0" dirty="0">
                <a:solidFill>
                  <a:srgbClr val="C9C4B4"/>
                </a:solidFill>
                <a:latin typeface="Arial" pitchFamily="34" charset="0"/>
                <a:ea typeface="Arial" pitchFamily="34" charset="-122"/>
                <a:cs typeface="Arial" pitchFamily="34" charset="-120"/>
              </a:rPr>
              <a:t>DISSERTATION CAMPAIGN</a:t>
            </a:r>
            <a:endParaRPr lang="en-US" sz="1100" dirty="0"/>
          </a:p>
        </p:txBody>
      </p:sp>
      <p:sp>
        <p:nvSpPr>
          <p:cNvPr id="6" name="Text 4"/>
          <p:cNvSpPr/>
          <p:nvPr/>
        </p:nvSpPr>
        <p:spPr>
          <a:xfrm>
            <a:off x="640080" y="1600200"/>
            <a:ext cx="10241280" cy="1965960"/>
          </a:xfrm>
          <a:prstGeom prst="rect">
            <a:avLst/>
          </a:prstGeom>
          <a:noFill/>
          <a:ln/>
        </p:spPr>
        <p:txBody>
          <a:bodyPr wrap="square" lIns="0" tIns="0" rIns="0" bIns="0" rtlCol="0" anchor="ctr"/>
          <a:lstStyle/>
          <a:p>
            <a:pPr indent="0" marL="0">
              <a:buNone/>
            </a:pPr>
            <a:r>
              <a:rPr lang="en-US" sz="4000" dirty="0">
                <a:solidFill>
                  <a:srgbClr val="EFE9D9"/>
                </a:solidFill>
                <a:latin typeface="Georgia" pitchFamily="34" charset="0"/>
                <a:ea typeface="Georgia" pitchFamily="34" charset="-122"/>
                <a:cs typeface="Georgia" pitchFamily="34" charset="-120"/>
              </a:rPr>
              <a:t>Nanoparticle and CAP effects</a:t>
            </a:r>
            <a:endParaRPr lang="en-US" sz="4000" dirty="0"/>
          </a:p>
          <a:p>
            <a:pPr indent="0" marL="0">
              <a:buNone/>
            </a:pPr>
            <a:r>
              <a:rPr lang="en-US" sz="4000" dirty="0">
                <a:solidFill>
                  <a:srgbClr val="EFE9D9"/>
                </a:solidFill>
                <a:latin typeface="Georgia" pitchFamily="34" charset="0"/>
                <a:ea typeface="Georgia" pitchFamily="34" charset="-122"/>
                <a:cs typeface="Georgia" pitchFamily="34" charset="-120"/>
              </a:rPr>
              <a:t>on a double core hole</a:t>
            </a:r>
            <a:endParaRPr lang="en-US" sz="4000" dirty="0"/>
          </a:p>
        </p:txBody>
      </p:sp>
      <p:sp>
        <p:nvSpPr>
          <p:cNvPr id="7" name="Text 5"/>
          <p:cNvSpPr/>
          <p:nvPr/>
        </p:nvSpPr>
        <p:spPr>
          <a:xfrm>
            <a:off x="640080" y="3794760"/>
            <a:ext cx="9692640" cy="777240"/>
          </a:xfrm>
          <a:prstGeom prst="rect">
            <a:avLst/>
          </a:prstGeom>
          <a:noFill/>
          <a:ln/>
        </p:spPr>
        <p:txBody>
          <a:bodyPr wrap="square" lIns="0" tIns="0" rIns="0" bIns="0" rtlCol="0" anchor="ctr"/>
          <a:lstStyle/>
          <a:p>
            <a:pPr indent="0" marL="0">
              <a:buNone/>
            </a:pPr>
            <a:r>
              <a:rPr lang="en-US" sz="1600" dirty="0">
                <a:solidFill>
                  <a:srgbClr val="C9C4B4"/>
                </a:solidFill>
                <a:latin typeface="Arial" pitchFamily="34" charset="0"/>
                <a:ea typeface="Arial" pitchFamily="34" charset="-122"/>
                <a:cs typeface="Arial" pitchFamily="34" charset="-120"/>
              </a:rPr>
              <a:t>A sudden double vacancy on one core orbital, next to a nanoparticle. The molecule and the sphere are not chosen. Each later run turns one piece on and leaves the rest fixed.</a:t>
            </a:r>
            <a:endParaRPr lang="en-US" sz="1600" dirty="0"/>
          </a:p>
        </p:txBody>
      </p:sp>
      <p:sp>
        <p:nvSpPr>
          <p:cNvPr id="8" name="Shape 6"/>
          <p:cNvSpPr/>
          <p:nvPr/>
        </p:nvSpPr>
        <p:spPr>
          <a:xfrm>
            <a:off x="640080" y="5349240"/>
            <a:ext cx="10911535" cy="0"/>
          </a:xfrm>
          <a:prstGeom prst="line">
            <a:avLst/>
          </a:prstGeom>
          <a:noFill/>
          <a:ln w="9525">
            <a:solidFill>
              <a:srgbClr val="2A3530"/>
            </a:solidFill>
            <a:prstDash val="solid"/>
          </a:ln>
        </p:spPr>
      </p:sp>
      <p:sp>
        <p:nvSpPr>
          <p:cNvPr id="9" name="Text 7"/>
          <p:cNvSpPr/>
          <p:nvPr/>
        </p:nvSpPr>
        <p:spPr>
          <a:xfrm>
            <a:off x="640080" y="5532120"/>
            <a:ext cx="3474720" cy="219456"/>
          </a:xfrm>
          <a:prstGeom prst="rect">
            <a:avLst/>
          </a:prstGeom>
          <a:noFill/>
          <a:ln/>
        </p:spPr>
        <p:txBody>
          <a:bodyPr wrap="square" lIns="0" tIns="0" rIns="0" bIns="0" rtlCol="0" anchor="ctr"/>
          <a:lstStyle/>
          <a:p>
            <a:pPr indent="0" marL="0">
              <a:buNone/>
            </a:pPr>
            <a:r>
              <a:rPr lang="en-US" sz="1100" spc="150" kern="0" dirty="0">
                <a:solidFill>
                  <a:srgbClr val="A7A79A"/>
                </a:solidFill>
                <a:latin typeface="Arial" pitchFamily="34" charset="0"/>
                <a:ea typeface="Arial" pitchFamily="34" charset="-122"/>
                <a:cs typeface="Arial" pitchFamily="34" charset="-120"/>
              </a:rPr>
              <a:t>SERIES</a:t>
            </a:r>
            <a:endParaRPr lang="en-US" sz="1100" dirty="0"/>
          </a:p>
        </p:txBody>
      </p:sp>
      <p:sp>
        <p:nvSpPr>
          <p:cNvPr id="10" name="Text 8"/>
          <p:cNvSpPr/>
          <p:nvPr/>
        </p:nvSpPr>
        <p:spPr>
          <a:xfrm>
            <a:off x="640080" y="5779008"/>
            <a:ext cx="3566160" cy="292608"/>
          </a:xfrm>
          <a:prstGeom prst="rect">
            <a:avLst/>
          </a:prstGeom>
          <a:noFill/>
          <a:ln/>
        </p:spPr>
        <p:txBody>
          <a:bodyPr wrap="square" lIns="0" tIns="0" rIns="0" bIns="0" rtlCol="0" anchor="ctr"/>
          <a:lstStyle/>
          <a:p>
            <a:pPr indent="0" marL="0">
              <a:buNone/>
            </a:pPr>
            <a:r>
              <a:rPr lang="en-US" sz="1400" b="1" dirty="0">
                <a:solidFill>
                  <a:srgbClr val="EFE9D9"/>
                </a:solidFill>
                <a:latin typeface="Arial" pitchFamily="34" charset="0"/>
                <a:ea typeface="Arial" pitchFamily="34" charset="-122"/>
                <a:cs typeface="Arial" pitchFamily="34" charset="-120"/>
              </a:rPr>
              <a:t>Sudden single-site DCH</a:t>
            </a:r>
            <a:endParaRPr lang="en-US" sz="1400" dirty="0"/>
          </a:p>
        </p:txBody>
      </p:sp>
      <p:sp>
        <p:nvSpPr>
          <p:cNvPr id="11" name="Text 9"/>
          <p:cNvSpPr/>
          <p:nvPr/>
        </p:nvSpPr>
        <p:spPr>
          <a:xfrm>
            <a:off x="4343400" y="5532120"/>
            <a:ext cx="3474720" cy="219456"/>
          </a:xfrm>
          <a:prstGeom prst="rect">
            <a:avLst/>
          </a:prstGeom>
          <a:noFill/>
          <a:ln/>
        </p:spPr>
        <p:txBody>
          <a:bodyPr wrap="square" lIns="0" tIns="0" rIns="0" bIns="0" rtlCol="0" anchor="ctr"/>
          <a:lstStyle/>
          <a:p>
            <a:pPr indent="0" marL="0">
              <a:buNone/>
            </a:pPr>
            <a:r>
              <a:rPr lang="en-US" sz="1100" spc="150" kern="0" dirty="0">
                <a:solidFill>
                  <a:srgbClr val="A7A79A"/>
                </a:solidFill>
                <a:latin typeface="Arial" pitchFamily="34" charset="0"/>
                <a:ea typeface="Arial" pitchFamily="34" charset="-122"/>
                <a:cs typeface="Arial" pitchFamily="34" charset="-120"/>
              </a:rPr>
              <a:t>PAIR</a:t>
            </a:r>
            <a:endParaRPr lang="en-US" sz="1100" dirty="0"/>
          </a:p>
        </p:txBody>
      </p:sp>
      <p:sp>
        <p:nvSpPr>
          <p:cNvPr id="12" name="Text 10"/>
          <p:cNvSpPr/>
          <p:nvPr/>
        </p:nvSpPr>
        <p:spPr>
          <a:xfrm>
            <a:off x="4343400" y="5779008"/>
            <a:ext cx="3566160" cy="292608"/>
          </a:xfrm>
          <a:prstGeom prst="rect">
            <a:avLst/>
          </a:prstGeom>
          <a:noFill/>
          <a:ln/>
        </p:spPr>
        <p:txBody>
          <a:bodyPr wrap="square" lIns="0" tIns="0" rIns="0" bIns="0" rtlCol="0" anchor="ctr"/>
          <a:lstStyle/>
          <a:p>
            <a:pPr indent="0" marL="0">
              <a:buNone/>
            </a:pPr>
            <a:r>
              <a:rPr lang="en-US" sz="1400" b="1" dirty="0">
                <a:solidFill>
                  <a:srgbClr val="EFE9D9"/>
                </a:solidFill>
                <a:latin typeface="Arial" pitchFamily="34" charset="0"/>
                <a:ea typeface="Arial" pitchFamily="34" charset="-122"/>
                <a:cs typeface="Arial" pitchFamily="34" charset="-120"/>
              </a:rPr>
              <a:t>Not chosen  ·  two pairs still open</a:t>
            </a:r>
            <a:endParaRPr lang="en-US" sz="1400" dirty="0"/>
          </a:p>
        </p:txBody>
      </p:sp>
      <p:sp>
        <p:nvSpPr>
          <p:cNvPr id="13" name="Text 11"/>
          <p:cNvSpPr/>
          <p:nvPr/>
        </p:nvSpPr>
        <p:spPr>
          <a:xfrm>
            <a:off x="8046720" y="5532120"/>
            <a:ext cx="3474720" cy="219456"/>
          </a:xfrm>
          <a:prstGeom prst="rect">
            <a:avLst/>
          </a:prstGeom>
          <a:noFill/>
          <a:ln/>
        </p:spPr>
        <p:txBody>
          <a:bodyPr wrap="square" lIns="0" tIns="0" rIns="0" bIns="0" rtlCol="0" anchor="ctr"/>
          <a:lstStyle/>
          <a:p>
            <a:pPr indent="0" marL="0">
              <a:buNone/>
            </a:pPr>
            <a:r>
              <a:rPr lang="en-US" sz="1100" spc="150" kern="0" dirty="0">
                <a:solidFill>
                  <a:srgbClr val="A7A79A"/>
                </a:solidFill>
                <a:latin typeface="Arial" pitchFamily="34" charset="0"/>
                <a:ea typeface="Arial" pitchFamily="34" charset="-122"/>
                <a:cs typeface="Arial" pitchFamily="34" charset="-120"/>
              </a:rPr>
              <a:t>STATUS</a:t>
            </a:r>
            <a:endParaRPr lang="en-US" sz="1100" dirty="0"/>
          </a:p>
        </p:txBody>
      </p:sp>
      <p:sp>
        <p:nvSpPr>
          <p:cNvPr id="14" name="Text 12"/>
          <p:cNvSpPr/>
          <p:nvPr/>
        </p:nvSpPr>
        <p:spPr>
          <a:xfrm>
            <a:off x="8046720" y="5779008"/>
            <a:ext cx="3566160" cy="292608"/>
          </a:xfrm>
          <a:prstGeom prst="rect">
            <a:avLst/>
          </a:prstGeom>
          <a:noFill/>
          <a:ln/>
        </p:spPr>
        <p:txBody>
          <a:bodyPr wrap="square" lIns="0" tIns="0" rIns="0" bIns="0" rtlCol="0" anchor="ctr"/>
          <a:lstStyle/>
          <a:p>
            <a:pPr indent="0" marL="0">
              <a:buNone/>
            </a:pPr>
            <a:r>
              <a:rPr lang="en-US" sz="1400" b="1" dirty="0">
                <a:solidFill>
                  <a:srgbClr val="EFE9D9"/>
                </a:solidFill>
                <a:latin typeface="Arial" pitchFamily="34" charset="0"/>
                <a:ea typeface="Arial" pitchFamily="34" charset="-122"/>
                <a:cs typeface="Arial" pitchFamily="34" charset="-120"/>
              </a:rPr>
              <a:t>Step 1 done  ·  2–8 are placeholders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THE QUESTION</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02  /  13</a:t>
            </a:r>
            <a:endParaRPr lang="en-US" sz="1100" dirty="0"/>
          </a:p>
        </p:txBody>
      </p:sp>
      <p:sp>
        <p:nvSpPr>
          <p:cNvPr id="4" name="Text 2"/>
          <p:cNvSpPr/>
          <p:nvPr/>
        </p:nvSpPr>
        <p:spPr>
          <a:xfrm>
            <a:off x="640080" y="658368"/>
            <a:ext cx="10911535" cy="502920"/>
          </a:xfrm>
          <a:prstGeom prst="rect">
            <a:avLst/>
          </a:prstGeom>
          <a:noFill/>
          <a:ln/>
        </p:spPr>
        <p:txBody>
          <a:bodyPr wrap="square" lIns="0" tIns="0" rIns="0" bIns="0" rtlCol="0" anchor="t"/>
          <a:lstStyle/>
          <a:p>
            <a:pPr indent="0" marL="0">
              <a:buNone/>
            </a:pPr>
            <a:r>
              <a:rPr lang="en-US" sz="3000" dirty="0">
                <a:solidFill>
                  <a:srgbClr val="1B2420"/>
                </a:solidFill>
                <a:latin typeface="Georgia" pitchFamily="34" charset="0"/>
                <a:ea typeface="Georgia" pitchFamily="34" charset="-122"/>
                <a:cs typeface="Georgia" pitchFamily="34" charset="-120"/>
              </a:rPr>
              <a:t>One switch at a time, or the causes mix.</a:t>
            </a:r>
            <a:endParaRPr lang="en-US" sz="3000" dirty="0"/>
          </a:p>
        </p:txBody>
      </p:sp>
      <p:sp>
        <p:nvSpPr>
          <p:cNvPr id="5" name="Shape 3"/>
          <p:cNvSpPr/>
          <p:nvPr/>
        </p:nvSpPr>
        <p:spPr>
          <a:xfrm>
            <a:off x="640080" y="1371600"/>
            <a:ext cx="3547872" cy="2331720"/>
          </a:xfrm>
          <a:prstGeom prst="rect">
            <a:avLst/>
          </a:prstGeom>
          <a:solidFill>
            <a:srgbClr val="F5EFE2"/>
          </a:solidFill>
          <a:ln w="9525">
            <a:solidFill>
              <a:srgbClr val="C9C4B4"/>
            </a:solidFill>
            <a:prstDash val="solid"/>
          </a:ln>
        </p:spPr>
      </p:sp>
      <p:sp>
        <p:nvSpPr>
          <p:cNvPr id="6" name="Text 4"/>
          <p:cNvSpPr/>
          <p:nvPr/>
        </p:nvSpPr>
        <p:spPr>
          <a:xfrm>
            <a:off x="841248" y="1499616"/>
            <a:ext cx="310896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841248" y="1792224"/>
            <a:ext cx="3154680" cy="384048"/>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The nanoparticle</a:t>
            </a:r>
            <a:endParaRPr lang="en-US" sz="1800" dirty="0"/>
          </a:p>
        </p:txBody>
      </p:sp>
      <p:sp>
        <p:nvSpPr>
          <p:cNvPr id="8" name="Text 6"/>
          <p:cNvSpPr/>
          <p:nvPr/>
        </p:nvSpPr>
        <p:spPr>
          <a:xfrm>
            <a:off x="841248" y="2267712"/>
            <a:ext cx="3154680" cy="123444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The local field, and, when back-propagation is on, the field the molecule itself radiates into the cell.</a:t>
            </a:r>
            <a:endParaRPr lang="en-US" sz="1400" dirty="0"/>
          </a:p>
        </p:txBody>
      </p:sp>
      <p:sp>
        <p:nvSpPr>
          <p:cNvPr id="9" name="Shape 7"/>
          <p:cNvSpPr/>
          <p:nvPr/>
        </p:nvSpPr>
        <p:spPr>
          <a:xfrm>
            <a:off x="4343400" y="1371600"/>
            <a:ext cx="3547872" cy="2331720"/>
          </a:xfrm>
          <a:prstGeom prst="rect">
            <a:avLst/>
          </a:prstGeom>
          <a:solidFill>
            <a:srgbClr val="F5EFE2"/>
          </a:solidFill>
          <a:ln w="9525">
            <a:solidFill>
              <a:srgbClr val="C9C4B4"/>
            </a:solidFill>
            <a:prstDash val="solid"/>
          </a:ln>
        </p:spPr>
      </p:sp>
      <p:sp>
        <p:nvSpPr>
          <p:cNvPr id="10" name="Text 8"/>
          <p:cNvSpPr/>
          <p:nvPr/>
        </p:nvSpPr>
        <p:spPr>
          <a:xfrm>
            <a:off x="4544568" y="1499616"/>
            <a:ext cx="310896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Arial" pitchFamily="34" charset="0"/>
                <a:ea typeface="Arial" pitchFamily="34" charset="-122"/>
                <a:cs typeface="Arial" pitchFamily="34" charset="-120"/>
              </a:rPr>
              <a:t>02</a:t>
            </a:r>
            <a:endParaRPr lang="en-US" sz="1200" dirty="0"/>
          </a:p>
        </p:txBody>
      </p:sp>
      <p:sp>
        <p:nvSpPr>
          <p:cNvPr id="11" name="Text 9"/>
          <p:cNvSpPr/>
          <p:nvPr/>
        </p:nvSpPr>
        <p:spPr>
          <a:xfrm>
            <a:off x="4544568" y="1792224"/>
            <a:ext cx="3154680" cy="384048"/>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The CAP</a:t>
            </a:r>
            <a:endParaRPr lang="en-US" sz="1800" dirty="0"/>
          </a:p>
        </p:txBody>
      </p:sp>
      <p:sp>
        <p:nvSpPr>
          <p:cNvPr id="12" name="Text 10"/>
          <p:cNvSpPr/>
          <p:nvPr/>
        </p:nvSpPr>
        <p:spPr>
          <a:xfrm>
            <a:off x="4544568" y="2267712"/>
            <a:ext cx="3154680" cy="123444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The Lopata non-Hermitian term on the Fock matrix. It sets lifetimes and peak widths, instead of a coherent oscillation that does not decay.</a:t>
            </a:r>
            <a:endParaRPr lang="en-US" sz="1400" dirty="0"/>
          </a:p>
        </p:txBody>
      </p:sp>
      <p:sp>
        <p:nvSpPr>
          <p:cNvPr id="13" name="Shape 11"/>
          <p:cNvSpPr/>
          <p:nvPr/>
        </p:nvSpPr>
        <p:spPr>
          <a:xfrm>
            <a:off x="8046720" y="1371600"/>
            <a:ext cx="3547872" cy="2331720"/>
          </a:xfrm>
          <a:prstGeom prst="rect">
            <a:avLst/>
          </a:prstGeom>
          <a:solidFill>
            <a:srgbClr val="F5EFE2"/>
          </a:solidFill>
          <a:ln w="9525">
            <a:solidFill>
              <a:srgbClr val="C9C4B4"/>
            </a:solidFill>
            <a:prstDash val="solid"/>
          </a:ln>
        </p:spPr>
      </p:sp>
      <p:sp>
        <p:nvSpPr>
          <p:cNvPr id="14" name="Text 12"/>
          <p:cNvSpPr/>
          <p:nvPr/>
        </p:nvSpPr>
        <p:spPr>
          <a:xfrm>
            <a:off x="8247888" y="1499616"/>
            <a:ext cx="310896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Arial" pitchFamily="34" charset="0"/>
                <a:ea typeface="Arial" pitchFamily="34" charset="-122"/>
                <a:cs typeface="Arial" pitchFamily="34" charset="-120"/>
              </a:rPr>
              <a:t>03</a:t>
            </a:r>
            <a:endParaRPr lang="en-US" sz="1200" dirty="0"/>
          </a:p>
        </p:txBody>
      </p:sp>
      <p:sp>
        <p:nvSpPr>
          <p:cNvPr id="15" name="Text 13"/>
          <p:cNvSpPr/>
          <p:nvPr/>
        </p:nvSpPr>
        <p:spPr>
          <a:xfrm>
            <a:off x="8247888" y="1792224"/>
            <a:ext cx="3154680" cy="384048"/>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Then two checks</a:t>
            </a:r>
            <a:endParaRPr lang="en-US" sz="1800" dirty="0"/>
          </a:p>
        </p:txBody>
      </p:sp>
      <p:sp>
        <p:nvSpPr>
          <p:cNvPr id="16" name="Text 14"/>
          <p:cNvSpPr/>
          <p:nvPr/>
        </p:nvSpPr>
        <p:spPr>
          <a:xfrm>
            <a:off x="8247888" y="2267712"/>
            <a:ext cx="3154680" cy="123444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Step 7 moves the gap on the resonant pair. Step 8 repeats the key runs where the plasmon misses the bright root.</a:t>
            </a:r>
            <a:endParaRPr lang="en-US" sz="1400" dirty="0"/>
          </a:p>
        </p:txBody>
      </p:sp>
      <p:sp>
        <p:nvSpPr>
          <p:cNvPr id="17" name="Text 15"/>
          <p:cNvSpPr/>
          <p:nvPr/>
        </p:nvSpPr>
        <p:spPr>
          <a:xfrm>
            <a:off x="640080" y="3913632"/>
            <a:ext cx="5212080" cy="256032"/>
          </a:xfrm>
          <a:prstGeom prst="rect">
            <a:avLst/>
          </a:prstGeom>
          <a:noFill/>
          <a:ln/>
        </p:spPr>
        <p:txBody>
          <a:bodyPr wrap="square" lIns="0" tIns="0" rIns="0" bIns="0" rtlCol="0" anchor="ctr"/>
          <a:lstStyle/>
          <a:p>
            <a:pPr indent="0" marL="0">
              <a:buNone/>
            </a:pPr>
            <a:r>
              <a:rPr lang="en-US" sz="1200" spc="140" kern="0" dirty="0">
                <a:solidFill>
                  <a:srgbClr val="3B5D3A"/>
                </a:solidFill>
                <a:latin typeface="Arial" pitchFamily="34" charset="0"/>
                <a:ea typeface="Arial" pitchFamily="34" charset="-122"/>
                <a:cs typeface="Arial" pitchFamily="34" charset="-120"/>
              </a:rPr>
              <a:t>DYNAMICS</a:t>
            </a:r>
            <a:endParaRPr lang="en-US" sz="1200" dirty="0"/>
          </a:p>
        </p:txBody>
      </p:sp>
      <p:sp>
        <p:nvSpPr>
          <p:cNvPr id="18" name="Text 16"/>
          <p:cNvSpPr/>
          <p:nvPr/>
        </p:nvSpPr>
        <p:spPr>
          <a:xfrm>
            <a:off x="640080" y="4187952"/>
            <a:ext cx="5303520" cy="77724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Hole occupations on the neutral MO basis. The sudden double hole is already non-stationary, so the hole moves with no external field.</a:t>
            </a:r>
            <a:endParaRPr lang="en-US" sz="1500" dirty="0"/>
          </a:p>
        </p:txBody>
      </p:sp>
      <p:sp>
        <p:nvSpPr>
          <p:cNvPr id="19" name="Text 17"/>
          <p:cNvSpPr/>
          <p:nvPr/>
        </p:nvSpPr>
        <p:spPr>
          <a:xfrm>
            <a:off x="6172200" y="3913632"/>
            <a:ext cx="5212080" cy="256032"/>
          </a:xfrm>
          <a:prstGeom prst="rect">
            <a:avLst/>
          </a:prstGeom>
          <a:noFill/>
          <a:ln/>
        </p:spPr>
        <p:txBody>
          <a:bodyPr wrap="square" lIns="0" tIns="0" rIns="0" bIns="0" rtlCol="0" anchor="ctr"/>
          <a:lstStyle/>
          <a:p>
            <a:pPr indent="0" marL="0">
              <a:buNone/>
            </a:pPr>
            <a:r>
              <a:rPr lang="en-US" sz="1200" spc="140" kern="0" dirty="0">
                <a:solidFill>
                  <a:srgbClr val="3B5D3A"/>
                </a:solidFill>
                <a:latin typeface="Arial" pitchFamily="34" charset="0"/>
                <a:ea typeface="Arial" pitchFamily="34" charset="-122"/>
                <a:cs typeface="Arial" pitchFamily="34" charset="-120"/>
              </a:rPr>
              <a:t>SPECTRA</a:t>
            </a:r>
            <a:endParaRPr lang="en-US" sz="1200" dirty="0"/>
          </a:p>
        </p:txBody>
      </p:sp>
      <p:sp>
        <p:nvSpPr>
          <p:cNvPr id="20" name="Text 18"/>
          <p:cNvSpPr/>
          <p:nvPr/>
        </p:nvSpPr>
        <p:spPr>
          <a:xfrm>
            <a:off x="6172200" y="4187952"/>
            <a:ext cx="5303520" cy="77724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A δ-kick on the isolated molecule, and a hybrid cross section under a Gaussian centered on that molecule’s bright root.</a:t>
            </a:r>
            <a:endParaRPr lang="en-US" sz="1500" dirty="0"/>
          </a:p>
        </p:txBody>
      </p:sp>
      <p:sp>
        <p:nvSpPr>
          <p:cNvPr id="21" name="Shape 19"/>
          <p:cNvSpPr/>
          <p:nvPr/>
        </p:nvSpPr>
        <p:spPr>
          <a:xfrm>
            <a:off x="640080" y="5349240"/>
            <a:ext cx="10911535" cy="1051560"/>
          </a:xfrm>
          <a:prstGeom prst="rect">
            <a:avLst/>
          </a:prstGeom>
          <a:solidFill>
            <a:srgbClr val="1B2420"/>
          </a:solidFill>
          <a:ln/>
        </p:spPr>
      </p:sp>
      <p:sp>
        <p:nvSpPr>
          <p:cNvPr id="22" name="Text 20"/>
          <p:cNvSpPr/>
          <p:nvPr/>
        </p:nvSpPr>
        <p:spPr>
          <a:xfrm>
            <a:off x="896112" y="5349240"/>
            <a:ext cx="2103120" cy="1051560"/>
          </a:xfrm>
          <a:prstGeom prst="rect">
            <a:avLst/>
          </a:prstGeom>
          <a:noFill/>
          <a:ln/>
        </p:spPr>
        <p:txBody>
          <a:bodyPr wrap="square" lIns="0" tIns="0" rIns="0" bIns="0" rtlCol="0" anchor="ctr"/>
          <a:lstStyle/>
          <a:p>
            <a:pPr indent="0" marL="0">
              <a:buNone/>
            </a:pPr>
            <a:r>
              <a:rPr lang="en-US" sz="1200" spc="110" kern="0" dirty="0">
                <a:solidFill>
                  <a:srgbClr val="7A9A6A"/>
                </a:solidFill>
                <a:latin typeface="Arial" pitchFamily="34" charset="0"/>
                <a:ea typeface="Arial" pitchFamily="34" charset="-122"/>
                <a:cs typeface="Arial" pitchFamily="34" charset="-120"/>
              </a:rPr>
              <a:t>NOT A SPECTRUM</a:t>
            </a:r>
            <a:endParaRPr lang="en-US" sz="1200" dirty="0"/>
          </a:p>
        </p:txBody>
      </p:sp>
      <p:sp>
        <p:nvSpPr>
          <p:cNvPr id="23" name="Text 21"/>
          <p:cNvSpPr/>
          <p:nvPr/>
        </p:nvSpPr>
        <p:spPr>
          <a:xfrm>
            <a:off x="3108960" y="5468112"/>
            <a:ext cx="8321040" cy="822960"/>
          </a:xfrm>
          <a:prstGeom prst="rect">
            <a:avLst/>
          </a:prstGeom>
          <a:noFill/>
          <a:ln/>
        </p:spPr>
        <p:txBody>
          <a:bodyPr wrap="square" lIns="0" tIns="0" rIns="0" bIns="0" rtlCol="0" anchor="ctr"/>
          <a:lstStyle/>
          <a:p>
            <a:pPr indent="0" marL="0">
              <a:buNone/>
            </a:pPr>
            <a:r>
              <a:rPr lang="en-US" sz="1500" i="1" dirty="0">
                <a:solidFill>
                  <a:srgbClr val="EFE9D9"/>
                </a:solidFill>
                <a:latin typeface="Georgia" pitchFamily="34" charset="0"/>
                <a:ea typeface="Georgia" pitchFamily="34" charset="-122"/>
                <a:cs typeface="Georgia" pitchFamily="34" charset="-120"/>
              </a:rPr>
              <a:t>A field-free hybrid job has no incident field. The cross section divides by that field, so the denominator is ~0. Those runs are occupations, the local field, and the induced dipole.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DFC8"/>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ALREADY CHECKED   ·   NOT PART OF JOBS / FINAL</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03  /  13</a:t>
            </a:r>
            <a:endParaRPr lang="en-US" sz="1100" dirty="0"/>
          </a:p>
        </p:txBody>
      </p:sp>
      <p:sp>
        <p:nvSpPr>
          <p:cNvPr id="4" name="Text 2"/>
          <p:cNvSpPr/>
          <p:nvPr/>
        </p:nvSpPr>
        <p:spPr>
          <a:xfrm>
            <a:off x="640080" y="566928"/>
            <a:ext cx="10911535" cy="420624"/>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The methods line up with the references.</a:t>
            </a:r>
            <a:endParaRPr lang="en-US" sz="2800" dirty="0"/>
          </a:p>
        </p:txBody>
      </p:sp>
      <p:sp>
        <p:nvSpPr>
          <p:cNvPr id="5" name="Text 3"/>
          <p:cNvSpPr/>
          <p:nvPr/>
        </p:nvSpPr>
        <p:spPr>
          <a:xfrm>
            <a:off x="640080" y="1115568"/>
            <a:ext cx="3611880" cy="256032"/>
          </a:xfrm>
          <a:prstGeom prst="rect">
            <a:avLst/>
          </a:prstGeom>
          <a:noFill/>
          <a:ln/>
        </p:spPr>
        <p:txBody>
          <a:bodyPr wrap="square" lIns="0" tIns="0" rIns="0" bIns="0" rtlCol="0" anchor="ctr"/>
          <a:lstStyle/>
          <a:p>
            <a:pPr indent="0" marL="0">
              <a:buNone/>
            </a:pPr>
            <a:r>
              <a:rPr lang="en-US" sz="1200" spc="80" kern="0" dirty="0">
                <a:solidFill>
                  <a:srgbClr val="C26A33"/>
                </a:solidFill>
                <a:latin typeface="Arial" pitchFamily="34" charset="0"/>
                <a:ea typeface="Arial" pitchFamily="34" charset="-122"/>
                <a:cs typeface="Arial" pitchFamily="34" charset="-120"/>
              </a:rPr>
              <a:t>01   SUDDEN DCH</a:t>
            </a:r>
            <a:endParaRPr lang="en-US" sz="1200" dirty="0"/>
          </a:p>
        </p:txBody>
      </p:sp>
      <p:pic>
        <p:nvPicPr>
          <p:cNvPr id="6" name="Image 0" descr="/Users/bldrdge1/Downloads/repos/PlasMol/jobs/final/figures/dch_nascimento.png">    </p:cNvPr>
          <p:cNvPicPr>
            <a:picLocks noChangeAspect="1"/>
          </p:cNvPicPr>
          <p:nvPr/>
        </p:nvPicPr>
        <p:blipFill>
          <a:blip r:embed="rId1"/>
          <a:stretch>
            <a:fillRect/>
          </a:stretch>
        </p:blipFill>
        <p:spPr>
          <a:xfrm>
            <a:off x="640080" y="1717941"/>
            <a:ext cx="3611880" cy="2643747"/>
          </a:xfrm>
          <a:prstGeom prst="rect">
            <a:avLst/>
          </a:prstGeom>
        </p:spPr>
      </p:pic>
      <p:sp>
        <p:nvSpPr>
          <p:cNvPr id="7" name="Text 4"/>
          <p:cNvSpPr/>
          <p:nvPr/>
        </p:nvSpPr>
        <p:spPr>
          <a:xfrm>
            <a:off x="640080" y="4462272"/>
            <a:ext cx="3611880" cy="65836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3-pentanone holes. Solid: PlasMol. Dashed: Nascimento, Fig. 8a.</a:t>
            </a:r>
            <a:endParaRPr lang="en-US" sz="1300" dirty="0"/>
          </a:p>
        </p:txBody>
      </p:sp>
      <p:sp>
        <p:nvSpPr>
          <p:cNvPr id="8" name="Text 5"/>
          <p:cNvSpPr/>
          <p:nvPr/>
        </p:nvSpPr>
        <p:spPr>
          <a:xfrm>
            <a:off x="4416552" y="1115568"/>
            <a:ext cx="3611880" cy="256032"/>
          </a:xfrm>
          <a:prstGeom prst="rect">
            <a:avLst/>
          </a:prstGeom>
          <a:noFill/>
          <a:ln/>
        </p:spPr>
        <p:txBody>
          <a:bodyPr wrap="square" lIns="0" tIns="0" rIns="0" bIns="0" rtlCol="0" anchor="ctr"/>
          <a:lstStyle/>
          <a:p>
            <a:pPr indent="0" marL="0">
              <a:buNone/>
            </a:pPr>
            <a:r>
              <a:rPr lang="en-US" sz="1200" spc="80" kern="0" dirty="0">
                <a:solidFill>
                  <a:srgbClr val="C26A33"/>
                </a:solidFill>
                <a:latin typeface="Arial" pitchFamily="34" charset="0"/>
                <a:ea typeface="Arial" pitchFamily="34" charset="-122"/>
                <a:cs typeface="Arial" pitchFamily="34" charset="-120"/>
              </a:rPr>
              <a:t>02   THE CAP</a:t>
            </a:r>
            <a:endParaRPr lang="en-US" sz="1200" dirty="0"/>
          </a:p>
        </p:txBody>
      </p:sp>
      <p:pic>
        <p:nvPicPr>
          <p:cNvPr id="9" name="Image 1" descr="/Users/bldrdge1/Downloads/repos/PlasMol/jobs/final/figures/TDDFT_iGamma.png">    </p:cNvPr>
          <p:cNvPicPr>
            <a:picLocks noChangeAspect="1"/>
          </p:cNvPicPr>
          <p:nvPr/>
        </p:nvPicPr>
        <p:blipFill>
          <a:blip r:embed="rId2"/>
          <a:stretch>
            <a:fillRect/>
          </a:stretch>
        </p:blipFill>
        <p:spPr>
          <a:xfrm>
            <a:off x="4416552" y="2101513"/>
            <a:ext cx="3611880" cy="2260175"/>
          </a:xfrm>
          <a:prstGeom prst="rect">
            <a:avLst/>
          </a:prstGeom>
        </p:spPr>
      </p:pic>
      <p:sp>
        <p:nvSpPr>
          <p:cNvPr id="10" name="Text 6"/>
          <p:cNvSpPr/>
          <p:nvPr/>
        </p:nvSpPr>
        <p:spPr>
          <a:xfrm>
            <a:off x="4416552" y="4462272"/>
            <a:ext cx="3611880" cy="65836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Water with the CAP, set against Lopata and Govind, JCTC 2013.</a:t>
            </a:r>
            <a:endParaRPr lang="en-US" sz="1300" dirty="0"/>
          </a:p>
        </p:txBody>
      </p:sp>
      <p:sp>
        <p:nvSpPr>
          <p:cNvPr id="11" name="Text 7"/>
          <p:cNvSpPr/>
          <p:nvPr/>
        </p:nvSpPr>
        <p:spPr>
          <a:xfrm>
            <a:off x="8193024" y="1115568"/>
            <a:ext cx="3611880" cy="256032"/>
          </a:xfrm>
          <a:prstGeom prst="rect">
            <a:avLst/>
          </a:prstGeom>
          <a:noFill/>
          <a:ln/>
        </p:spPr>
        <p:txBody>
          <a:bodyPr wrap="square" lIns="0" tIns="0" rIns="0" bIns="0" rtlCol="0" anchor="ctr"/>
          <a:lstStyle/>
          <a:p>
            <a:pPr indent="0" marL="0">
              <a:buNone/>
            </a:pPr>
            <a:r>
              <a:rPr lang="en-US" sz="1200" spc="80" kern="0" dirty="0">
                <a:solidFill>
                  <a:srgbClr val="C26A33"/>
                </a:solidFill>
                <a:latin typeface="Arial" pitchFamily="34" charset="0"/>
                <a:ea typeface="Arial" pitchFamily="34" charset="-122"/>
                <a:cs typeface="Arial" pitchFamily="34" charset="-120"/>
              </a:rPr>
              <a:t>03   HYBRID LOOP</a:t>
            </a:r>
            <a:endParaRPr lang="en-US" sz="1200" dirty="0"/>
          </a:p>
        </p:txBody>
      </p:sp>
      <p:pic>
        <p:nvPicPr>
          <p:cNvPr id="12" name="Image 2" descr="/Users/bldrdge1/Downloads/repos/PlasMol/jobs/final/figures/gersten_nitzan.png">    </p:cNvPr>
          <p:cNvPicPr>
            <a:picLocks noChangeAspect="1"/>
          </p:cNvPicPr>
          <p:nvPr/>
        </p:nvPicPr>
        <p:blipFill>
          <a:blip r:embed="rId3"/>
          <a:stretch>
            <a:fillRect/>
          </a:stretch>
        </p:blipFill>
        <p:spPr>
          <a:xfrm>
            <a:off x="8193024" y="1640726"/>
            <a:ext cx="3611880" cy="2720962"/>
          </a:xfrm>
          <a:prstGeom prst="rect">
            <a:avLst/>
          </a:prstGeom>
        </p:spPr>
      </p:pic>
      <p:sp>
        <p:nvSpPr>
          <p:cNvPr id="13" name="Text 8"/>
          <p:cNvSpPr/>
          <p:nvPr/>
        </p:nvSpPr>
        <p:spPr>
          <a:xfrm>
            <a:off x="8193024" y="4462272"/>
            <a:ext cx="3611880" cy="65836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Sodium beside gold. PlasMol against the Gersten–Nitzan model.</a:t>
            </a:r>
            <a:endParaRPr lang="en-US" sz="1300" dirty="0"/>
          </a:p>
        </p:txBody>
      </p:sp>
      <p:sp>
        <p:nvSpPr>
          <p:cNvPr id="14" name="Text 9"/>
          <p:cNvSpPr/>
          <p:nvPr/>
        </p:nvSpPr>
        <p:spPr>
          <a:xfrm>
            <a:off x="640080" y="5257800"/>
            <a:ext cx="10911535" cy="868680"/>
          </a:xfrm>
          <a:prstGeom prst="rect">
            <a:avLst/>
          </a:prstGeom>
          <a:noFill/>
          <a:ln/>
        </p:spPr>
        <p:txBody>
          <a:bodyPr wrap="square" lIns="0" tIns="0" rIns="0" bIns="0" rtlCol="0" anchor="ctr"/>
          <a:lstStyle/>
          <a:p>
            <a:pPr indent="0" marL="0">
              <a:buNone/>
            </a:pPr>
            <a:r>
              <a:rPr lang="en-US" sz="1500" i="1" dirty="0">
                <a:solidFill>
                  <a:srgbClr val="3B5D3A"/>
                </a:solidFill>
                <a:latin typeface="Arial" pitchFamily="34" charset="0"/>
                <a:ea typeface="Arial" pitchFamily="34" charset="-122"/>
                <a:cs typeface="Arial" pitchFamily="34" charset="-120"/>
              </a:rPr>
              <a:t>None of these is the molecule in Steps 2–8. MOs 21, 23, and 24 are the pentanone frontier, not the production one. This campaign does not reuse the sodium line or that gold sphere.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THE RUN LIST</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04  /  13</a:t>
            </a:r>
            <a:endParaRPr lang="en-US" sz="1100" dirty="0"/>
          </a:p>
        </p:txBody>
      </p:sp>
      <p:sp>
        <p:nvSpPr>
          <p:cNvPr id="4" name="Text 2"/>
          <p:cNvSpPr/>
          <p:nvPr/>
        </p:nvSpPr>
        <p:spPr>
          <a:xfrm>
            <a:off x="640080" y="585216"/>
            <a:ext cx="10911535" cy="420624"/>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Eight steps. Only the screen has been run.</a:t>
            </a:r>
            <a:endParaRPr lang="en-US" sz="2800" dirty="0"/>
          </a:p>
        </p:txBody>
      </p:sp>
      <p:sp>
        <p:nvSpPr>
          <p:cNvPr id="5" name="Text 3"/>
          <p:cNvSpPr/>
          <p:nvPr/>
        </p:nvSpPr>
        <p:spPr>
          <a:xfrm>
            <a:off x="640080" y="1097280"/>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188720" y="1097280"/>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Literature and screen</a:t>
            </a:r>
            <a:endParaRPr lang="en-US" sz="1600" dirty="0"/>
          </a:p>
        </p:txBody>
      </p:sp>
      <p:sp>
        <p:nvSpPr>
          <p:cNvPr id="7" name="Text 5"/>
          <p:cNvSpPr/>
          <p:nvPr/>
        </p:nvSpPr>
        <p:spPr>
          <a:xfrm>
            <a:off x="4160520" y="1097280"/>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Bright valence lines near a metallic plasmon.</a:t>
            </a:r>
            <a:endParaRPr lang="en-US" sz="1400" dirty="0"/>
          </a:p>
        </p:txBody>
      </p:sp>
      <p:sp>
        <p:nvSpPr>
          <p:cNvPr id="8" name="Text 6"/>
          <p:cNvSpPr/>
          <p:nvPr/>
        </p:nvSpPr>
        <p:spPr>
          <a:xfrm>
            <a:off x="9921240" y="1188720"/>
            <a:ext cx="1600200" cy="329184"/>
          </a:xfrm>
          <a:prstGeom prst="rect">
            <a:avLst/>
          </a:prstGeom>
          <a:noFill/>
          <a:ln/>
        </p:spPr>
        <p:txBody>
          <a:bodyPr wrap="square" lIns="0" tIns="0" rIns="0" bIns="0" rtlCol="0" anchor="ctr"/>
          <a:lstStyle/>
          <a:p>
            <a:pPr algn="r" indent="0" marL="0">
              <a:buNone/>
            </a:pPr>
            <a:r>
              <a:rPr lang="en-US" sz="1200" dirty="0">
                <a:solidFill>
                  <a:srgbClr val="3B5D3A"/>
                </a:solidFill>
                <a:latin typeface="Arial" pitchFamily="34" charset="0"/>
                <a:ea typeface="Arial" pitchFamily="34" charset="-122"/>
                <a:cs typeface="Arial" pitchFamily="34" charset="-120"/>
              </a:rPr>
              <a:t>Done</a:t>
            </a:r>
            <a:endParaRPr lang="en-US" sz="1200" dirty="0"/>
          </a:p>
        </p:txBody>
      </p:sp>
      <p:sp>
        <p:nvSpPr>
          <p:cNvPr id="9" name="Shape 7"/>
          <p:cNvSpPr/>
          <p:nvPr/>
        </p:nvSpPr>
        <p:spPr>
          <a:xfrm>
            <a:off x="640080" y="1682496"/>
            <a:ext cx="10911535" cy="0"/>
          </a:xfrm>
          <a:prstGeom prst="line">
            <a:avLst/>
          </a:prstGeom>
          <a:noFill/>
          <a:ln w="9525">
            <a:solidFill>
              <a:srgbClr val="C9C4B4"/>
            </a:solidFill>
            <a:prstDash val="solid"/>
          </a:ln>
        </p:spPr>
      </p:sp>
      <p:sp>
        <p:nvSpPr>
          <p:cNvPr id="10" name="Text 8"/>
          <p:cNvSpPr/>
          <p:nvPr/>
        </p:nvSpPr>
        <p:spPr>
          <a:xfrm>
            <a:off x="640080" y="1755648"/>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1188720" y="1755648"/>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Core survey</a:t>
            </a:r>
            <a:endParaRPr lang="en-US" sz="1600" dirty="0"/>
          </a:p>
        </p:txBody>
      </p:sp>
      <p:sp>
        <p:nvSpPr>
          <p:cNvPr id="12" name="Text 10"/>
          <p:cNvSpPr/>
          <p:nvPr/>
        </p:nvSpPr>
        <p:spPr>
          <a:xfrm>
            <a:off x="4160520" y="1755648"/>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Which MO is the core on the resonant molecule.</a:t>
            </a:r>
            <a:endParaRPr lang="en-US" sz="1400" dirty="0"/>
          </a:p>
        </p:txBody>
      </p:sp>
      <p:sp>
        <p:nvSpPr>
          <p:cNvPr id="13" name="Text 11"/>
          <p:cNvSpPr/>
          <p:nvPr/>
        </p:nvSpPr>
        <p:spPr>
          <a:xfrm>
            <a:off x="9921240" y="1847088"/>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
        <p:nvSpPr>
          <p:cNvPr id="14" name="Shape 12"/>
          <p:cNvSpPr/>
          <p:nvPr/>
        </p:nvSpPr>
        <p:spPr>
          <a:xfrm>
            <a:off x="640080" y="2340864"/>
            <a:ext cx="10911535" cy="0"/>
          </a:xfrm>
          <a:prstGeom prst="line">
            <a:avLst/>
          </a:prstGeom>
          <a:noFill/>
          <a:ln w="9525">
            <a:solidFill>
              <a:srgbClr val="C9C4B4"/>
            </a:solidFill>
            <a:prstDash val="solid"/>
          </a:ln>
        </p:spPr>
      </p:sp>
      <p:sp>
        <p:nvSpPr>
          <p:cNvPr id="15" name="Text 13"/>
          <p:cNvSpPr/>
          <p:nvPr/>
        </p:nvSpPr>
        <p:spPr>
          <a:xfrm>
            <a:off x="640080" y="2414016"/>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3</a:t>
            </a:r>
            <a:endParaRPr lang="en-US" sz="2000" dirty="0"/>
          </a:p>
        </p:txBody>
      </p:sp>
      <p:sp>
        <p:nvSpPr>
          <p:cNvPr id="16" name="Text 14"/>
          <p:cNvSpPr/>
          <p:nvPr/>
        </p:nvSpPr>
        <p:spPr>
          <a:xfrm>
            <a:off x="1188720" y="2414016"/>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Field-free DCH</a:t>
            </a:r>
            <a:endParaRPr lang="en-US" sz="1600" dirty="0"/>
          </a:p>
        </p:txBody>
      </p:sp>
      <p:sp>
        <p:nvSpPr>
          <p:cNvPr id="17" name="Text 15"/>
          <p:cNvSpPr/>
          <p:nvPr/>
        </p:nvSpPr>
        <p:spPr>
          <a:xfrm>
            <a:off x="4160520" y="2414016"/>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The sudden hole, one factor at a time. D1–D6.</a:t>
            </a:r>
            <a:endParaRPr lang="en-US" sz="1400" dirty="0"/>
          </a:p>
        </p:txBody>
      </p:sp>
      <p:sp>
        <p:nvSpPr>
          <p:cNvPr id="18" name="Text 16"/>
          <p:cNvSpPr/>
          <p:nvPr/>
        </p:nvSpPr>
        <p:spPr>
          <a:xfrm>
            <a:off x="9921240" y="2505456"/>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
        <p:nvSpPr>
          <p:cNvPr id="19" name="Shape 17"/>
          <p:cNvSpPr/>
          <p:nvPr/>
        </p:nvSpPr>
        <p:spPr>
          <a:xfrm>
            <a:off x="640080" y="2999232"/>
            <a:ext cx="10911535" cy="0"/>
          </a:xfrm>
          <a:prstGeom prst="line">
            <a:avLst/>
          </a:prstGeom>
          <a:noFill/>
          <a:ln w="9525">
            <a:solidFill>
              <a:srgbClr val="C9C4B4"/>
            </a:solidFill>
            <a:prstDash val="solid"/>
          </a:ln>
        </p:spPr>
      </p:sp>
      <p:sp>
        <p:nvSpPr>
          <p:cNvPr id="20" name="Text 18"/>
          <p:cNvSpPr/>
          <p:nvPr/>
        </p:nvSpPr>
        <p:spPr>
          <a:xfrm>
            <a:off x="640080" y="3072384"/>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4</a:t>
            </a:r>
            <a:endParaRPr lang="en-US" sz="2000" dirty="0"/>
          </a:p>
        </p:txBody>
      </p:sp>
      <p:sp>
        <p:nvSpPr>
          <p:cNvPr id="21" name="Text 19"/>
          <p:cNvSpPr/>
          <p:nvPr/>
        </p:nvSpPr>
        <p:spPr>
          <a:xfrm>
            <a:off x="1188720" y="3072384"/>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δ-kick spectra</a:t>
            </a:r>
            <a:endParaRPr lang="en-US" sz="1600" dirty="0"/>
          </a:p>
        </p:txBody>
      </p:sp>
      <p:sp>
        <p:nvSpPr>
          <p:cNvPr id="22" name="Text 20"/>
          <p:cNvSpPr/>
          <p:nvPr/>
        </p:nvSpPr>
        <p:spPr>
          <a:xfrm>
            <a:off x="4160520" y="3072384"/>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Isolated absorption, ± DCH, ± CAP. K1–K4.</a:t>
            </a:r>
            <a:endParaRPr lang="en-US" sz="1400" dirty="0"/>
          </a:p>
        </p:txBody>
      </p:sp>
      <p:sp>
        <p:nvSpPr>
          <p:cNvPr id="23" name="Text 21"/>
          <p:cNvSpPr/>
          <p:nvPr/>
        </p:nvSpPr>
        <p:spPr>
          <a:xfrm>
            <a:off x="9921240" y="3163824"/>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
        <p:nvSpPr>
          <p:cNvPr id="24" name="Shape 22"/>
          <p:cNvSpPr/>
          <p:nvPr/>
        </p:nvSpPr>
        <p:spPr>
          <a:xfrm>
            <a:off x="640080" y="3657600"/>
            <a:ext cx="10911535" cy="0"/>
          </a:xfrm>
          <a:prstGeom prst="line">
            <a:avLst/>
          </a:prstGeom>
          <a:noFill/>
          <a:ln w="9525">
            <a:solidFill>
              <a:srgbClr val="C9C4B4"/>
            </a:solidFill>
            <a:prstDash val="solid"/>
          </a:ln>
        </p:spPr>
      </p:sp>
      <p:sp>
        <p:nvSpPr>
          <p:cNvPr id="25" name="Text 23"/>
          <p:cNvSpPr/>
          <p:nvPr/>
        </p:nvSpPr>
        <p:spPr>
          <a:xfrm>
            <a:off x="640080" y="3730752"/>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5</a:t>
            </a:r>
            <a:endParaRPr lang="en-US" sz="2000" dirty="0"/>
          </a:p>
        </p:txBody>
      </p:sp>
      <p:sp>
        <p:nvSpPr>
          <p:cNvPr id="26" name="Text 24"/>
          <p:cNvSpPr/>
          <p:nvPr/>
        </p:nvSpPr>
        <p:spPr>
          <a:xfrm>
            <a:off x="1188720" y="3730752"/>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Gaussian hybrid</a:t>
            </a:r>
            <a:endParaRPr lang="en-US" sz="1600" dirty="0"/>
          </a:p>
        </p:txBody>
      </p:sp>
      <p:sp>
        <p:nvSpPr>
          <p:cNvPr id="27" name="Text 25"/>
          <p:cNvSpPr/>
          <p:nvPr/>
        </p:nvSpPr>
        <p:spPr>
          <a:xfrm>
            <a:off x="4160520" y="3730752"/>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Cross section, ± DCH, ± NP, ± CAP. G1–G8.</a:t>
            </a:r>
            <a:endParaRPr lang="en-US" sz="1400" dirty="0"/>
          </a:p>
        </p:txBody>
      </p:sp>
      <p:sp>
        <p:nvSpPr>
          <p:cNvPr id="28" name="Text 26"/>
          <p:cNvSpPr/>
          <p:nvPr/>
        </p:nvSpPr>
        <p:spPr>
          <a:xfrm>
            <a:off x="9921240" y="3822192"/>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
        <p:nvSpPr>
          <p:cNvPr id="29" name="Shape 27"/>
          <p:cNvSpPr/>
          <p:nvPr/>
        </p:nvSpPr>
        <p:spPr>
          <a:xfrm>
            <a:off x="640080" y="4315968"/>
            <a:ext cx="10911535" cy="0"/>
          </a:xfrm>
          <a:prstGeom prst="line">
            <a:avLst/>
          </a:prstGeom>
          <a:noFill/>
          <a:ln w="9525">
            <a:solidFill>
              <a:srgbClr val="C9C4B4"/>
            </a:solidFill>
            <a:prstDash val="solid"/>
          </a:ln>
        </p:spPr>
      </p:sp>
      <p:sp>
        <p:nvSpPr>
          <p:cNvPr id="30" name="Text 28"/>
          <p:cNvSpPr/>
          <p:nvPr/>
        </p:nvSpPr>
        <p:spPr>
          <a:xfrm>
            <a:off x="640080" y="4389120"/>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6</a:t>
            </a:r>
            <a:endParaRPr lang="en-US" sz="2000" dirty="0"/>
          </a:p>
        </p:txBody>
      </p:sp>
      <p:sp>
        <p:nvSpPr>
          <p:cNvPr id="31" name="Text 29"/>
          <p:cNvSpPr/>
          <p:nvPr/>
        </p:nvSpPr>
        <p:spPr>
          <a:xfrm>
            <a:off x="1188720" y="4389120"/>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Two controls on G4</a:t>
            </a:r>
            <a:endParaRPr lang="en-US" sz="1600" dirty="0"/>
          </a:p>
        </p:txBody>
      </p:sp>
      <p:sp>
        <p:nvSpPr>
          <p:cNvPr id="32" name="Text 30"/>
          <p:cNvSpPr/>
          <p:nvPr/>
        </p:nvSpPr>
        <p:spPr>
          <a:xfrm>
            <a:off x="4160520" y="4389120"/>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Perpendicular, and back-propagation off.</a:t>
            </a:r>
            <a:endParaRPr lang="en-US" sz="1400" dirty="0"/>
          </a:p>
        </p:txBody>
      </p:sp>
      <p:sp>
        <p:nvSpPr>
          <p:cNvPr id="33" name="Text 31"/>
          <p:cNvSpPr/>
          <p:nvPr/>
        </p:nvSpPr>
        <p:spPr>
          <a:xfrm>
            <a:off x="9921240" y="4480560"/>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
        <p:nvSpPr>
          <p:cNvPr id="34" name="Shape 32"/>
          <p:cNvSpPr/>
          <p:nvPr/>
        </p:nvSpPr>
        <p:spPr>
          <a:xfrm>
            <a:off x="640080" y="4974336"/>
            <a:ext cx="10911535" cy="0"/>
          </a:xfrm>
          <a:prstGeom prst="line">
            <a:avLst/>
          </a:prstGeom>
          <a:noFill/>
          <a:ln w="9525">
            <a:solidFill>
              <a:srgbClr val="C9C4B4"/>
            </a:solidFill>
            <a:prstDash val="solid"/>
          </a:ln>
        </p:spPr>
      </p:sp>
      <p:sp>
        <p:nvSpPr>
          <p:cNvPr id="35" name="Text 33"/>
          <p:cNvSpPr/>
          <p:nvPr/>
        </p:nvSpPr>
        <p:spPr>
          <a:xfrm>
            <a:off x="640080" y="5047488"/>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7</a:t>
            </a:r>
            <a:endParaRPr lang="en-US" sz="2000" dirty="0"/>
          </a:p>
        </p:txBody>
      </p:sp>
      <p:sp>
        <p:nvSpPr>
          <p:cNvPr id="36" name="Text 34"/>
          <p:cNvSpPr/>
          <p:nvPr/>
        </p:nvSpPr>
        <p:spPr>
          <a:xfrm>
            <a:off x="1188720" y="5047488"/>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Distance</a:t>
            </a:r>
            <a:endParaRPr lang="en-US" sz="1600" dirty="0"/>
          </a:p>
        </p:txBody>
      </p:sp>
      <p:sp>
        <p:nvSpPr>
          <p:cNvPr id="37" name="Text 35"/>
          <p:cNvSpPr/>
          <p:nvPr/>
        </p:nvSpPr>
        <p:spPr>
          <a:xfrm>
            <a:off x="4160520" y="5047488"/>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Resonant pair at three other surface gaps.</a:t>
            </a:r>
            <a:endParaRPr lang="en-US" sz="1400" dirty="0"/>
          </a:p>
        </p:txBody>
      </p:sp>
      <p:sp>
        <p:nvSpPr>
          <p:cNvPr id="38" name="Text 36"/>
          <p:cNvSpPr/>
          <p:nvPr/>
        </p:nvSpPr>
        <p:spPr>
          <a:xfrm>
            <a:off x="9921240" y="5138928"/>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
        <p:nvSpPr>
          <p:cNvPr id="39" name="Shape 37"/>
          <p:cNvSpPr/>
          <p:nvPr/>
        </p:nvSpPr>
        <p:spPr>
          <a:xfrm>
            <a:off x="640080" y="5632704"/>
            <a:ext cx="10911535" cy="0"/>
          </a:xfrm>
          <a:prstGeom prst="line">
            <a:avLst/>
          </a:prstGeom>
          <a:noFill/>
          <a:ln w="9525">
            <a:solidFill>
              <a:srgbClr val="C9C4B4"/>
            </a:solidFill>
            <a:prstDash val="solid"/>
          </a:ln>
        </p:spPr>
      </p:sp>
      <p:sp>
        <p:nvSpPr>
          <p:cNvPr id="40" name="Text 38"/>
          <p:cNvSpPr/>
          <p:nvPr/>
        </p:nvSpPr>
        <p:spPr>
          <a:xfrm>
            <a:off x="640080" y="5705856"/>
            <a:ext cx="411480" cy="50292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8</a:t>
            </a:r>
            <a:endParaRPr lang="en-US" sz="2000" dirty="0"/>
          </a:p>
        </p:txBody>
      </p:sp>
      <p:sp>
        <p:nvSpPr>
          <p:cNvPr id="41" name="Text 39"/>
          <p:cNvSpPr/>
          <p:nvPr/>
        </p:nvSpPr>
        <p:spPr>
          <a:xfrm>
            <a:off x="1188720" y="5705856"/>
            <a:ext cx="2880360" cy="5029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Detuned pair</a:t>
            </a:r>
            <a:endParaRPr lang="en-US" sz="1600" dirty="0"/>
          </a:p>
        </p:txBody>
      </p:sp>
      <p:sp>
        <p:nvSpPr>
          <p:cNvPr id="42" name="Text 40"/>
          <p:cNvSpPr/>
          <p:nvPr/>
        </p:nvSpPr>
        <p:spPr>
          <a:xfrm>
            <a:off x="4160520" y="5705856"/>
            <a:ext cx="5623560" cy="50292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Key runs where the resonances do not overlap.</a:t>
            </a:r>
            <a:endParaRPr lang="en-US" sz="1400" dirty="0"/>
          </a:p>
        </p:txBody>
      </p:sp>
      <p:sp>
        <p:nvSpPr>
          <p:cNvPr id="43" name="Text 41"/>
          <p:cNvSpPr/>
          <p:nvPr/>
        </p:nvSpPr>
        <p:spPr>
          <a:xfrm>
            <a:off x="9921240" y="5797296"/>
            <a:ext cx="1600200" cy="329184"/>
          </a:xfrm>
          <a:prstGeom prst="rect">
            <a:avLst/>
          </a:prstGeom>
          <a:noFill/>
          <a:ln/>
        </p:spPr>
        <p:txBody>
          <a:bodyPr wrap="square" lIns="0" tIns="0" rIns="0" bIns="0" rtlCol="0" anchor="ctr"/>
          <a:lstStyle/>
          <a:p>
            <a:pPr algn="r" indent="0" marL="0">
              <a:buNone/>
            </a:pPr>
            <a:r>
              <a:rPr lang="en-US" sz="1200" dirty="0">
                <a:solidFill>
                  <a:srgbClr val="C26A33"/>
                </a:solidFill>
                <a:latin typeface="Arial" pitchFamily="34" charset="0"/>
                <a:ea typeface="Arial" pitchFamily="34" charset="-122"/>
                <a:cs typeface="Arial" pitchFamily="34" charset="-120"/>
              </a:rPr>
              <a:t>Placeholder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STEP 1   ·   DONE</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05  /  13</a:t>
            </a:r>
            <a:endParaRPr lang="en-US" sz="1100" dirty="0"/>
          </a:p>
        </p:txBody>
      </p:sp>
      <p:sp>
        <p:nvSpPr>
          <p:cNvPr id="4" name="Text 2"/>
          <p:cNvSpPr/>
          <p:nvPr/>
        </p:nvSpPr>
        <p:spPr>
          <a:xfrm>
            <a:off x="640080" y="640080"/>
            <a:ext cx="10911535" cy="868680"/>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The literature molecules miss both plasmons. One candidate does not.</a:t>
            </a:r>
            <a:endParaRPr lang="en-US" sz="2800" dirty="0"/>
          </a:p>
        </p:txBody>
      </p:sp>
      <p:sp>
        <p:nvSpPr>
          <p:cNvPr id="5" name="Text 3"/>
          <p:cNvSpPr/>
          <p:nvPr/>
        </p:nvSpPr>
        <p:spPr>
          <a:xfrm>
            <a:off x="640080" y="1737360"/>
            <a:ext cx="3520440" cy="548640"/>
          </a:xfrm>
          <a:prstGeom prst="rect">
            <a:avLst/>
          </a:prstGeom>
          <a:noFill/>
          <a:ln/>
        </p:spPr>
        <p:txBody>
          <a:bodyPr wrap="square" lIns="0" tIns="0" rIns="0" bIns="0" rtlCol="0" anchor="ctr"/>
          <a:lstStyle/>
          <a:p>
            <a:pPr indent="0" marL="0">
              <a:buNone/>
            </a:pPr>
            <a:r>
              <a:rPr lang="en-US" sz="3200" dirty="0">
                <a:solidFill>
                  <a:srgbClr val="3B5D3A"/>
                </a:solidFill>
                <a:latin typeface="Georgia" pitchFamily="34" charset="0"/>
                <a:ea typeface="Georgia" pitchFamily="34" charset="-122"/>
                <a:cs typeface="Georgia" pitchFamily="34" charset="-120"/>
              </a:rPr>
              <a:t>417 nm</a:t>
            </a:r>
            <a:endParaRPr lang="en-US" sz="3200" dirty="0"/>
          </a:p>
        </p:txBody>
      </p:sp>
      <p:sp>
        <p:nvSpPr>
          <p:cNvPr id="6" name="Text 4"/>
          <p:cNvSpPr/>
          <p:nvPr/>
        </p:nvSpPr>
        <p:spPr>
          <a:xfrm>
            <a:off x="640080" y="2331720"/>
            <a:ext cx="3520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trans-thioindigo, screen μ</a:t>
            </a:r>
            <a:endParaRPr lang="en-US" sz="1600" dirty="0"/>
          </a:p>
        </p:txBody>
      </p:sp>
      <p:sp>
        <p:nvSpPr>
          <p:cNvPr id="7" name="Text 5"/>
          <p:cNvSpPr/>
          <p:nvPr/>
        </p:nvSpPr>
        <p:spPr>
          <a:xfrm>
            <a:off x="640080" y="2788920"/>
            <a:ext cx="3520440" cy="123444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LC-ωPBE at μ = 0.34272, f = 0.29. That μ is not the production value. The root moves if μ changes.</a:t>
            </a:r>
            <a:endParaRPr lang="en-US" sz="1400" dirty="0"/>
          </a:p>
        </p:txBody>
      </p:sp>
      <p:sp>
        <p:nvSpPr>
          <p:cNvPr id="8" name="Text 6"/>
          <p:cNvSpPr/>
          <p:nvPr/>
        </p:nvSpPr>
        <p:spPr>
          <a:xfrm>
            <a:off x="4343400" y="1737360"/>
            <a:ext cx="3520440" cy="548640"/>
          </a:xfrm>
          <a:prstGeom prst="rect">
            <a:avLst/>
          </a:prstGeom>
          <a:noFill/>
          <a:ln/>
        </p:spPr>
        <p:txBody>
          <a:bodyPr wrap="square" lIns="0" tIns="0" rIns="0" bIns="0" rtlCol="0" anchor="ctr"/>
          <a:lstStyle/>
          <a:p>
            <a:pPr indent="0" marL="0">
              <a:buNone/>
            </a:pPr>
            <a:r>
              <a:rPr lang="en-US" sz="3200" dirty="0">
                <a:solidFill>
                  <a:srgbClr val="3B5D3A"/>
                </a:solidFill>
                <a:latin typeface="Georgia" pitchFamily="34" charset="0"/>
                <a:ea typeface="Georgia" pitchFamily="34" charset="-122"/>
                <a:cs typeface="Georgia" pitchFamily="34" charset="-120"/>
              </a:rPr>
              <a:t>418.5 nm</a:t>
            </a:r>
            <a:endParaRPr lang="en-US" sz="3200" dirty="0"/>
          </a:p>
        </p:txBody>
      </p:sp>
      <p:sp>
        <p:nvSpPr>
          <p:cNvPr id="9" name="Text 7"/>
          <p:cNvSpPr/>
          <p:nvPr/>
        </p:nvSpPr>
        <p:spPr>
          <a:xfrm>
            <a:off x="4343400" y="2331720"/>
            <a:ext cx="3520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35 nm silver, not selected</a:t>
            </a:r>
            <a:endParaRPr lang="en-US" sz="1600" dirty="0"/>
          </a:p>
        </p:txBody>
      </p:sp>
      <p:sp>
        <p:nvSpPr>
          <p:cNvPr id="10" name="Text 8"/>
          <p:cNvSpPr/>
          <p:nvPr/>
        </p:nvSpPr>
        <p:spPr>
          <a:xfrm>
            <a:off x="4343400" y="2788920"/>
            <a:ext cx="3520440" cy="123444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Mie peak of Meep Ag in water. This pair is resonant with itself. It is not written into the JSON.</a:t>
            </a:r>
            <a:endParaRPr lang="en-US" sz="1400" dirty="0"/>
          </a:p>
        </p:txBody>
      </p:sp>
      <p:sp>
        <p:nvSpPr>
          <p:cNvPr id="11" name="Text 9"/>
          <p:cNvSpPr/>
          <p:nvPr/>
        </p:nvSpPr>
        <p:spPr>
          <a:xfrm>
            <a:off x="8046720" y="1737360"/>
            <a:ext cx="3520440" cy="548640"/>
          </a:xfrm>
          <a:prstGeom prst="rect">
            <a:avLst/>
          </a:prstGeom>
          <a:noFill/>
          <a:ln/>
        </p:spPr>
        <p:txBody>
          <a:bodyPr wrap="square" lIns="0" tIns="0" rIns="0" bIns="0" rtlCol="0" anchor="ctr"/>
          <a:lstStyle/>
          <a:p>
            <a:pPr indent="0" marL="0">
              <a:buNone/>
            </a:pPr>
            <a:r>
              <a:rPr lang="en-US" sz="3200" dirty="0">
                <a:solidFill>
                  <a:srgbClr val="3B5D3A"/>
                </a:solidFill>
                <a:latin typeface="Georgia" pitchFamily="34" charset="0"/>
                <a:ea typeface="Georgia" pitchFamily="34" charset="-122"/>
                <a:cs typeface="Georgia" pitchFamily="34" charset="-120"/>
              </a:rPr>
              <a:t>None</a:t>
            </a:r>
            <a:endParaRPr lang="en-US" sz="3200" dirty="0"/>
          </a:p>
        </p:txBody>
      </p:sp>
      <p:sp>
        <p:nvSpPr>
          <p:cNvPr id="12" name="Text 10"/>
          <p:cNvSpPr/>
          <p:nvPr/>
        </p:nvSpPr>
        <p:spPr>
          <a:xfrm>
            <a:off x="8046720" y="2331720"/>
            <a:ext cx="3520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of the DCH-literature set</a:t>
            </a:r>
            <a:endParaRPr lang="en-US" sz="1600" dirty="0"/>
          </a:p>
        </p:txBody>
      </p:sp>
      <p:sp>
        <p:nvSpPr>
          <p:cNvPr id="13" name="Text 11"/>
          <p:cNvSpPr/>
          <p:nvPr/>
        </p:nvSpPr>
        <p:spPr>
          <a:xfrm>
            <a:off x="8046720" y="2788920"/>
            <a:ext cx="3520440" cy="1234440"/>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No bright line in that screen sits on the silver plasmon near 418 nm or the gold plasmon near 540 nm.</a:t>
            </a:r>
            <a:endParaRPr lang="en-US" sz="1400" dirty="0"/>
          </a:p>
        </p:txBody>
      </p:sp>
      <p:sp>
        <p:nvSpPr>
          <p:cNvPr id="14" name="Shape 12"/>
          <p:cNvSpPr/>
          <p:nvPr/>
        </p:nvSpPr>
        <p:spPr>
          <a:xfrm>
            <a:off x="640080" y="4297680"/>
            <a:ext cx="10911535" cy="1965960"/>
          </a:xfrm>
          <a:prstGeom prst="rect">
            <a:avLst/>
          </a:prstGeom>
          <a:solidFill>
            <a:srgbClr val="EBE6D6"/>
          </a:solidFill>
          <a:ln/>
        </p:spPr>
      </p:sp>
      <p:sp>
        <p:nvSpPr>
          <p:cNvPr id="15" name="Text 13"/>
          <p:cNvSpPr/>
          <p:nvPr/>
        </p:nvSpPr>
        <p:spPr>
          <a:xfrm>
            <a:off x="914400" y="4462272"/>
            <a:ext cx="10515600" cy="32004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What Step 1 actually is</a:t>
            </a:r>
            <a:endParaRPr lang="en-US" sz="1600" dirty="0"/>
          </a:p>
        </p:txBody>
      </p:sp>
      <p:sp>
        <p:nvSpPr>
          <p:cNvPr id="16" name="Text 14"/>
          <p:cNvSpPr/>
          <p:nvPr/>
        </p:nvSpPr>
        <p:spPr>
          <a:xfrm>
            <a:off x="914400" y="4846320"/>
            <a:ext cx="10332720" cy="118872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A reading list of double-core-hole papers, plus a valence-absorption screen of those molecules and of trans-thioindigo. Thioindigo is not in that literature. The production initial condition, from Step 3 on, is the pentanone one: a sudden double vacancy on one core MO, neutral orbitals kept. It is not a two-site free-electron-laser spectrum. The thioindigo μ tune has not been run.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DFC8"/>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FROM STEP 2 ON</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06  /  13</a:t>
            </a:r>
            <a:endParaRPr lang="en-US" sz="1100" dirty="0"/>
          </a:p>
        </p:txBody>
      </p:sp>
      <p:sp>
        <p:nvSpPr>
          <p:cNvPr id="4" name="Text 2"/>
          <p:cNvSpPr/>
          <p:nvPr/>
        </p:nvSpPr>
        <p:spPr>
          <a:xfrm>
            <a:off x="640080" y="640080"/>
            <a:ext cx="10911535" cy="502920"/>
          </a:xfrm>
          <a:prstGeom prst="rect">
            <a:avLst/>
          </a:prstGeom>
          <a:noFill/>
          <a:ln/>
        </p:spPr>
        <p:txBody>
          <a:bodyPr wrap="square" lIns="0" tIns="0" rIns="0" bIns="0" rtlCol="0" anchor="t"/>
          <a:lstStyle/>
          <a:p>
            <a:pPr indent="0" marL="0">
              <a:buNone/>
            </a:pPr>
            <a:r>
              <a:rPr lang="en-US" sz="3000" dirty="0">
                <a:solidFill>
                  <a:srgbClr val="1B2420"/>
                </a:solidFill>
                <a:latin typeface="Georgia" pitchFamily="34" charset="0"/>
                <a:ea typeface="Georgia" pitchFamily="34" charset="-122"/>
                <a:cs typeface="Georgia" pitchFamily="34" charset="-120"/>
              </a:rPr>
              <a:t>The form is fixed. μ and ε₀ are not.</a:t>
            </a:r>
            <a:endParaRPr lang="en-US" sz="3000" dirty="0"/>
          </a:p>
        </p:txBody>
      </p:sp>
      <p:sp>
        <p:nvSpPr>
          <p:cNvPr id="5" name="Text 3"/>
          <p:cNvSpPr/>
          <p:nvPr/>
        </p:nvSpPr>
        <p:spPr>
          <a:xfrm>
            <a:off x="640080" y="1325880"/>
            <a:ext cx="5120640" cy="256032"/>
          </a:xfrm>
          <a:prstGeom prst="rect">
            <a:avLst/>
          </a:prstGeom>
          <a:noFill/>
          <a:ln/>
        </p:spPr>
        <p:txBody>
          <a:bodyPr wrap="square" lIns="0" tIns="0" rIns="0" bIns="0" rtlCol="0" anchor="ctr"/>
          <a:lstStyle/>
          <a:p>
            <a:pPr indent="0" marL="0">
              <a:buNone/>
            </a:pPr>
            <a:r>
              <a:rPr lang="en-US" sz="1200" spc="140" kern="0" dirty="0">
                <a:solidFill>
                  <a:srgbClr val="3B5D3A"/>
                </a:solidFill>
                <a:latin typeface="Arial" pitchFamily="34" charset="0"/>
                <a:ea typeface="Arial" pitchFamily="34" charset="-122"/>
                <a:cs typeface="Arial" pitchFamily="34" charset="-120"/>
              </a:rPr>
              <a:t>HELD FIXED</a:t>
            </a:r>
            <a:endParaRPr lang="en-US" sz="1200" dirty="0"/>
          </a:p>
        </p:txBody>
      </p:sp>
      <p:sp>
        <p:nvSpPr>
          <p:cNvPr id="6" name="Text 4"/>
          <p:cNvSpPr/>
          <p:nvPr/>
        </p:nvSpPr>
        <p:spPr>
          <a:xfrm>
            <a:off x="6537960" y="1325880"/>
            <a:ext cx="4937760" cy="256032"/>
          </a:xfrm>
          <a:prstGeom prst="rect">
            <a:avLst/>
          </a:prstGeom>
          <a:noFill/>
          <a:ln/>
        </p:spPr>
        <p:txBody>
          <a:bodyPr wrap="square" lIns="0" tIns="0" rIns="0" bIns="0" rtlCol="0" anchor="ctr"/>
          <a:lstStyle/>
          <a:p>
            <a:pPr indent="0" marL="0">
              <a:buNone/>
            </a:pPr>
            <a:r>
              <a:rPr lang="en-US" sz="1200" spc="140" kern="0" dirty="0">
                <a:solidFill>
                  <a:srgbClr val="C26A33"/>
                </a:solidFill>
                <a:latin typeface="Arial" pitchFamily="34" charset="0"/>
                <a:ea typeface="Arial" pitchFamily="34" charset="-122"/>
                <a:cs typeface="Arial" pitchFamily="34" charset="-120"/>
              </a:rPr>
              <a:t>STILL A PLACEHOLDER</a:t>
            </a:r>
            <a:endParaRPr lang="en-US" sz="1200" dirty="0"/>
          </a:p>
        </p:txBody>
      </p:sp>
      <p:sp>
        <p:nvSpPr>
          <p:cNvPr id="7" name="Text 5"/>
          <p:cNvSpPr/>
          <p:nvPr/>
        </p:nvSpPr>
        <p:spPr>
          <a:xfrm>
            <a:off x="640080" y="1627632"/>
            <a:ext cx="512064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Functional</a:t>
            </a:r>
            <a:endParaRPr lang="en-US" sz="1600" dirty="0"/>
          </a:p>
        </p:txBody>
      </p:sp>
      <p:sp>
        <p:nvSpPr>
          <p:cNvPr id="8" name="Text 6"/>
          <p:cNvSpPr/>
          <p:nvPr/>
        </p:nvSpPr>
        <p:spPr>
          <a:xfrm>
            <a:off x="640080" y="1883664"/>
            <a:ext cx="521208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LC-ωPBE on every run. Not PBE0. The value of μ is open</a:t>
            </a:r>
            <a:endParaRPr lang="en-US" sz="1400" dirty="0"/>
          </a:p>
        </p:txBody>
      </p:sp>
      <p:sp>
        <p:nvSpPr>
          <p:cNvPr id="9" name="Text 7"/>
          <p:cNvSpPr/>
          <p:nvPr/>
        </p:nvSpPr>
        <p:spPr>
          <a:xfrm>
            <a:off x="640080" y="2377440"/>
            <a:ext cx="512064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Basis</a:t>
            </a:r>
            <a:endParaRPr lang="en-US" sz="1600" dirty="0"/>
          </a:p>
        </p:txBody>
      </p:sp>
      <p:sp>
        <p:nvSpPr>
          <p:cNvPr id="10" name="Text 8"/>
          <p:cNvSpPr/>
          <p:nvPr/>
        </p:nvSpPr>
        <p:spPr>
          <a:xfrm>
            <a:off x="640080" y="2633472"/>
            <a:ext cx="521208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6-311G*, Cartesian. Charge 0, singlet. Nuclei stay at PBE0</a:t>
            </a:r>
            <a:endParaRPr lang="en-US" sz="1400" dirty="0"/>
          </a:p>
        </p:txBody>
      </p:sp>
      <p:sp>
        <p:nvSpPr>
          <p:cNvPr id="11" name="Text 9"/>
          <p:cNvSpPr/>
          <p:nvPr/>
        </p:nvSpPr>
        <p:spPr>
          <a:xfrm>
            <a:off x="640080" y="3127248"/>
            <a:ext cx="512064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CAP shape</a:t>
            </a:r>
            <a:endParaRPr lang="en-US" sz="1600" dirty="0"/>
          </a:p>
        </p:txBody>
      </p:sp>
      <p:sp>
        <p:nvSpPr>
          <p:cNvPr id="12" name="Text 10"/>
          <p:cNvSpPr/>
          <p:nvPr/>
        </p:nvSpPr>
        <p:spPr>
          <a:xfrm>
            <a:off x="640080" y="3383280"/>
            <a:ext cx="521208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Static. γ₀ = 1, ξ = 0.5, clamp 100. ε₀ is open</a:t>
            </a:r>
            <a:endParaRPr lang="en-US" sz="1400" dirty="0"/>
          </a:p>
        </p:txBody>
      </p:sp>
      <p:sp>
        <p:nvSpPr>
          <p:cNvPr id="13" name="Text 11"/>
          <p:cNvSpPr/>
          <p:nvPr/>
        </p:nvSpPr>
        <p:spPr>
          <a:xfrm>
            <a:off x="640080" y="3877056"/>
            <a:ext cx="512064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Time</a:t>
            </a:r>
            <a:endParaRPr lang="en-US" sz="1600" dirty="0"/>
          </a:p>
        </p:txBody>
      </p:sp>
      <p:sp>
        <p:nvSpPr>
          <p:cNvPr id="14" name="Text 12"/>
          <p:cNvSpPr/>
          <p:nvPr/>
        </p:nvSpPr>
        <p:spPr>
          <a:xfrm>
            <a:off x="640080" y="4133088"/>
            <a:ext cx="521208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Molecule-only: dt 0.05 au. Hybrid: dt 0.1 au to 10,000 au</a:t>
            </a:r>
            <a:endParaRPr lang="en-US" sz="1400" dirty="0"/>
          </a:p>
        </p:txBody>
      </p:sp>
      <p:sp>
        <p:nvSpPr>
          <p:cNvPr id="15" name="Text 13"/>
          <p:cNvSpPr/>
          <p:nvPr/>
        </p:nvSpPr>
        <p:spPr>
          <a:xfrm>
            <a:off x="640080" y="4626864"/>
            <a:ext cx="512064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Cell</a:t>
            </a:r>
            <a:endParaRPr lang="en-US" sz="1600" dirty="0"/>
          </a:p>
        </p:txBody>
      </p:sp>
      <p:sp>
        <p:nvSpPr>
          <p:cNvPr id="16" name="Text 14"/>
          <p:cNvSpPr/>
          <p:nvPr/>
        </p:nvSpPr>
        <p:spPr>
          <a:xfrm>
            <a:off x="640080" y="4882896"/>
            <a:ext cx="521208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Water, n = 1.33. Baseline gap 0.015 μm. Step 7 is the scan</a:t>
            </a:r>
            <a:endParaRPr lang="en-US" sz="1400" dirty="0"/>
          </a:p>
        </p:txBody>
      </p:sp>
      <p:sp>
        <p:nvSpPr>
          <p:cNvPr id="17" name="Text 15"/>
          <p:cNvSpPr/>
          <p:nvPr/>
        </p:nvSpPr>
        <p:spPr>
          <a:xfrm>
            <a:off x="640080" y="5376672"/>
            <a:ext cx="512064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Gaussian width</a:t>
            </a:r>
            <a:endParaRPr lang="en-US" sz="1600" dirty="0"/>
          </a:p>
        </p:txBody>
      </p:sp>
      <p:sp>
        <p:nvSpPr>
          <p:cNvPr id="18" name="Text 16"/>
          <p:cNvSpPr/>
          <p:nvPr/>
        </p:nvSpPr>
        <p:spPr>
          <a:xfrm>
            <a:off x="640080" y="5632704"/>
            <a:ext cx="521208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fwidth 2.0. The wavelength itself is still open</a:t>
            </a:r>
            <a:endParaRPr lang="en-US" sz="1400" dirty="0"/>
          </a:p>
        </p:txBody>
      </p:sp>
      <p:sp>
        <p:nvSpPr>
          <p:cNvPr id="19" name="Text 17"/>
          <p:cNvSpPr/>
          <p:nvPr/>
        </p:nvSpPr>
        <p:spPr>
          <a:xfrm>
            <a:off x="6537960" y="1627632"/>
            <a:ext cx="493776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Geometry</a:t>
            </a:r>
            <a:endParaRPr lang="en-US" sz="1600" dirty="0"/>
          </a:p>
        </p:txBody>
      </p:sp>
      <p:sp>
        <p:nvSpPr>
          <p:cNvPr id="20" name="Text 18"/>
          <p:cNvSpPr/>
          <p:nvPr/>
        </p:nvSpPr>
        <p:spPr>
          <a:xfrm>
            <a:off x="6537960" y="1883664"/>
            <a:ext cx="493776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Resonant file in Steps 2–7. A separate file in Step 8</a:t>
            </a:r>
            <a:endParaRPr lang="en-US" sz="1400" dirty="0"/>
          </a:p>
        </p:txBody>
      </p:sp>
      <p:sp>
        <p:nvSpPr>
          <p:cNvPr id="21" name="Text 19"/>
          <p:cNvSpPr/>
          <p:nvPr/>
        </p:nvSpPr>
        <p:spPr>
          <a:xfrm>
            <a:off x="6537960" y="2377440"/>
            <a:ext cx="493776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Core and frontier</a:t>
            </a:r>
            <a:endParaRPr lang="en-US" sz="1600" dirty="0"/>
          </a:p>
        </p:txBody>
      </p:sp>
      <p:sp>
        <p:nvSpPr>
          <p:cNvPr id="22" name="Text 20"/>
          <p:cNvSpPr/>
          <p:nvPr/>
        </p:nvSpPr>
        <p:spPr>
          <a:xfrm>
            <a:off x="6537960" y="2633472"/>
            <a:ext cx="493776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One core index, and three watch indices</a:t>
            </a:r>
            <a:endParaRPr lang="en-US" sz="1400" dirty="0"/>
          </a:p>
        </p:txBody>
      </p:sp>
      <p:sp>
        <p:nvSpPr>
          <p:cNvPr id="23" name="Text 21"/>
          <p:cNvSpPr/>
          <p:nvPr/>
        </p:nvSpPr>
        <p:spPr>
          <a:xfrm>
            <a:off x="6537960" y="3127248"/>
            <a:ext cx="493776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Nanoparticle</a:t>
            </a:r>
            <a:endParaRPr lang="en-US" sz="1600" dirty="0"/>
          </a:p>
        </p:txBody>
      </p:sp>
      <p:sp>
        <p:nvSpPr>
          <p:cNvPr id="24" name="Text 22"/>
          <p:cNvSpPr/>
          <p:nvPr/>
        </p:nvSpPr>
        <p:spPr>
          <a:xfrm>
            <a:off x="6537960" y="3383280"/>
            <a:ext cx="493776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Meep material and radius. Baseline x is radius + 0.015 μm</a:t>
            </a:r>
            <a:endParaRPr lang="en-US" sz="1400" dirty="0"/>
          </a:p>
        </p:txBody>
      </p:sp>
      <p:sp>
        <p:nvSpPr>
          <p:cNvPr id="25" name="Text 23"/>
          <p:cNvSpPr/>
          <p:nvPr/>
        </p:nvSpPr>
        <p:spPr>
          <a:xfrm>
            <a:off x="6537960" y="3877056"/>
            <a:ext cx="493776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Gaussian wavelength</a:t>
            </a:r>
            <a:endParaRPr lang="en-US" sz="1600" dirty="0"/>
          </a:p>
        </p:txBody>
      </p:sp>
      <p:sp>
        <p:nvSpPr>
          <p:cNvPr id="26" name="Text 24"/>
          <p:cNvSpPr/>
          <p:nvPr/>
        </p:nvSpPr>
        <p:spPr>
          <a:xfrm>
            <a:off x="6537960" y="4133088"/>
            <a:ext cx="493776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The molecule’s bright root, in μm</a:t>
            </a:r>
            <a:endParaRPr lang="en-US" sz="1400" dirty="0"/>
          </a:p>
        </p:txBody>
      </p:sp>
      <p:sp>
        <p:nvSpPr>
          <p:cNvPr id="27" name="Text 25"/>
          <p:cNvSpPr/>
          <p:nvPr/>
        </p:nvSpPr>
        <p:spPr>
          <a:xfrm>
            <a:off x="6537960" y="4626864"/>
            <a:ext cx="493776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μ</a:t>
            </a:r>
            <a:endParaRPr lang="en-US" sz="1600" dirty="0"/>
          </a:p>
        </p:txBody>
      </p:sp>
      <p:sp>
        <p:nvSpPr>
          <p:cNvPr id="28" name="Text 26"/>
          <p:cNvSpPr/>
          <p:nvPr/>
        </p:nvSpPr>
        <p:spPr>
          <a:xfrm>
            <a:off x="6537960" y="4882896"/>
            <a:ext cx="493776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One number on every file for that molecule, CAP on or off</a:t>
            </a:r>
            <a:endParaRPr lang="en-US" sz="1400" dirty="0"/>
          </a:p>
        </p:txBody>
      </p:sp>
      <p:sp>
        <p:nvSpPr>
          <p:cNvPr id="29" name="Text 27"/>
          <p:cNvSpPr/>
          <p:nvPr/>
        </p:nvSpPr>
        <p:spPr>
          <a:xfrm>
            <a:off x="6537960" y="5376672"/>
            <a:ext cx="4937760" cy="27432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ε₀</a:t>
            </a:r>
            <a:endParaRPr lang="en-US" sz="1600" dirty="0"/>
          </a:p>
        </p:txBody>
      </p:sp>
      <p:sp>
        <p:nvSpPr>
          <p:cNvPr id="30" name="Text 28"/>
          <p:cNvSpPr/>
          <p:nvPr/>
        </p:nvSpPr>
        <p:spPr>
          <a:xfrm>
            <a:off x="6537960" y="5632704"/>
            <a:ext cx="4937760" cy="420624"/>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CAP threshold in Ha, tuned at that μ. CAP files only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STEP 2   ·   PLACEHOLDER</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07  /  13</a:t>
            </a:r>
            <a:endParaRPr lang="en-US" sz="1100" dirty="0"/>
          </a:p>
        </p:txBody>
      </p:sp>
      <p:sp>
        <p:nvSpPr>
          <p:cNvPr id="4" name="Text 2"/>
          <p:cNvSpPr/>
          <p:nvPr/>
        </p:nvSpPr>
        <p:spPr>
          <a:xfrm>
            <a:off x="640080" y="640080"/>
            <a:ext cx="10911535" cy="502920"/>
          </a:xfrm>
          <a:prstGeom prst="rect">
            <a:avLst/>
          </a:prstGeom>
          <a:noFill/>
          <a:ln/>
        </p:spPr>
        <p:txBody>
          <a:bodyPr wrap="square" lIns="0" tIns="0" rIns="0" bIns="0" rtlCol="0" anchor="t"/>
          <a:lstStyle/>
          <a:p>
            <a:pPr indent="0" marL="0">
              <a:buNone/>
            </a:pPr>
            <a:r>
              <a:rPr lang="en-US" sz="3000" dirty="0">
                <a:solidFill>
                  <a:srgbClr val="1B2420"/>
                </a:solidFill>
                <a:latin typeface="Georgia" pitchFamily="34" charset="0"/>
                <a:ea typeface="Georgia" pitchFamily="34" charset="-122"/>
                <a:cs typeface="Georgia" pitchFamily="34" charset="-120"/>
              </a:rPr>
              <a:t>Name the core before any hole is made.</a:t>
            </a:r>
            <a:endParaRPr lang="en-US" sz="3000" dirty="0"/>
          </a:p>
        </p:txBody>
      </p:sp>
      <p:sp>
        <p:nvSpPr>
          <p:cNvPr id="5" name="Text 3"/>
          <p:cNvSpPr/>
          <p:nvPr/>
        </p:nvSpPr>
        <p:spPr>
          <a:xfrm>
            <a:off x="640080" y="1371600"/>
            <a:ext cx="6675120" cy="1325880"/>
          </a:xfrm>
          <a:prstGeom prst="rect">
            <a:avLst/>
          </a:prstGeom>
          <a:noFill/>
          <a:ln/>
        </p:spPr>
        <p:txBody>
          <a:bodyPr wrap="square" lIns="0" tIns="0" rIns="0" bIns="0" rtlCol="0" anchor="ctr"/>
          <a:lstStyle/>
          <a:p>
            <a:pPr indent="0" marL="0">
              <a:buNone/>
            </a:pPr>
            <a:r>
              <a:rPr lang="en-US" sz="1600" dirty="0">
                <a:solidFill>
                  <a:srgbClr val="3B3F3A"/>
                </a:solidFill>
                <a:latin typeface="Arial" pitchFamily="34" charset="0"/>
                <a:ea typeface="Arial" pitchFamily="34" charset="-122"/>
                <a:cs typeface="Arial" pitchFamily="34" charset="-120"/>
              </a:rPr>
              <a:t>survey.json builds the neutral molecule, writes which atoms contribute to MOs 0 through 5, and exits. It does not remove electrons and it does not propagate. The production hole is two electrons from one of those MOs, so the propagation stays closed-shell.</a:t>
            </a:r>
            <a:endParaRPr lang="en-US" sz="1600" dirty="0"/>
          </a:p>
        </p:txBody>
      </p:sp>
      <p:sp>
        <p:nvSpPr>
          <p:cNvPr id="6" name="Text 4"/>
          <p:cNvSpPr/>
          <p:nvPr/>
        </p:nvSpPr>
        <p:spPr>
          <a:xfrm>
            <a:off x="640080" y="2880360"/>
            <a:ext cx="6675120" cy="292608"/>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Print, don’t ionize</a:t>
            </a:r>
            <a:endParaRPr lang="en-US" sz="1800" dirty="0"/>
          </a:p>
        </p:txBody>
      </p:sp>
      <p:sp>
        <p:nvSpPr>
          <p:cNvPr id="7" name="Text 5"/>
          <p:cNvSpPr/>
          <p:nvPr/>
        </p:nvSpPr>
        <p:spPr>
          <a:xfrm>
            <a:off x="640080" y="3191256"/>
            <a:ext cx="6675120" cy="54864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The 0–5 list is what the survey reports. It is not the production hole.</a:t>
            </a:r>
            <a:endParaRPr lang="en-US" sz="1500" dirty="0"/>
          </a:p>
        </p:txBody>
      </p:sp>
      <p:sp>
        <p:nvSpPr>
          <p:cNvPr id="8" name="Text 6"/>
          <p:cNvSpPr/>
          <p:nvPr/>
        </p:nvSpPr>
        <p:spPr>
          <a:xfrm>
            <a:off x="640080" y="3977640"/>
            <a:ext cx="6675120" cy="292608"/>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One MO</a:t>
            </a:r>
            <a:endParaRPr lang="en-US" sz="1800" dirty="0"/>
          </a:p>
        </p:txBody>
      </p:sp>
      <p:sp>
        <p:nvSpPr>
          <p:cNvPr id="9" name="Text 7"/>
          <p:cNvSpPr/>
          <p:nvPr/>
        </p:nvSpPr>
        <p:spPr>
          <a:xfrm>
            <a:off x="640080" y="4288536"/>
            <a:ext cx="6675120" cy="54864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A second index would open the shell. Single core holes are out of this plan.</a:t>
            </a:r>
            <a:endParaRPr lang="en-US" sz="1500" dirty="0"/>
          </a:p>
        </p:txBody>
      </p:sp>
      <p:sp>
        <p:nvSpPr>
          <p:cNvPr id="10" name="Text 8"/>
          <p:cNvSpPr/>
          <p:nvPr/>
        </p:nvSpPr>
        <p:spPr>
          <a:xfrm>
            <a:off x="640080" y="5074920"/>
            <a:ext cx="6675120" cy="292608"/>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Equivalent atoms</a:t>
            </a:r>
            <a:endParaRPr lang="en-US" sz="1800" dirty="0"/>
          </a:p>
        </p:txBody>
      </p:sp>
      <p:sp>
        <p:nvSpPr>
          <p:cNvPr id="11" name="Text 9"/>
          <p:cNvSpPr/>
          <p:nvPr/>
        </p:nvSpPr>
        <p:spPr>
          <a:xfrm>
            <a:off x="640080" y="5385816"/>
            <a:ext cx="6675120" cy="54864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A canonical MO can be a combination of two sites, not a hole on one of them.</a:t>
            </a:r>
            <a:endParaRPr lang="en-US" sz="1500" dirty="0"/>
          </a:p>
        </p:txBody>
      </p:sp>
      <p:sp>
        <p:nvSpPr>
          <p:cNvPr id="12" name="Shape 10"/>
          <p:cNvSpPr/>
          <p:nvPr/>
        </p:nvSpPr>
        <p:spPr>
          <a:xfrm>
            <a:off x="7680960" y="1371600"/>
            <a:ext cx="3840480" cy="4709160"/>
          </a:xfrm>
          <a:prstGeom prst="rect">
            <a:avLst/>
          </a:prstGeom>
          <a:solidFill>
            <a:srgbClr val="1B2420"/>
          </a:solidFill>
          <a:ln/>
        </p:spPr>
      </p:sp>
      <p:sp>
        <p:nvSpPr>
          <p:cNvPr id="13" name="Text 11"/>
          <p:cNvSpPr/>
          <p:nvPr/>
        </p:nvSpPr>
        <p:spPr>
          <a:xfrm>
            <a:off x="7936992" y="1600200"/>
            <a:ext cx="3383280" cy="274320"/>
          </a:xfrm>
          <a:prstGeom prst="rect">
            <a:avLst/>
          </a:prstGeom>
          <a:noFill/>
          <a:ln/>
        </p:spPr>
        <p:txBody>
          <a:bodyPr wrap="square" lIns="0" tIns="0" rIns="0" bIns="0" rtlCol="0" anchor="ctr"/>
          <a:lstStyle/>
          <a:p>
            <a:pPr indent="0" marL="0">
              <a:buNone/>
            </a:pPr>
            <a:r>
              <a:rPr lang="en-US" sz="1200" spc="120" kern="0" dirty="0">
                <a:solidFill>
                  <a:srgbClr val="7A9A6A"/>
                </a:solidFill>
                <a:latin typeface="Arial" pitchFamily="34" charset="0"/>
                <a:ea typeface="Arial" pitchFamily="34" charset="-122"/>
                <a:cs typeface="Arial" pitchFamily="34" charset="-120"/>
              </a:rPr>
              <a:t>THIOINDIGO TRIAL</a:t>
            </a:r>
            <a:endParaRPr lang="en-US" sz="1200" dirty="0"/>
          </a:p>
        </p:txBody>
      </p:sp>
      <p:sp>
        <p:nvSpPr>
          <p:cNvPr id="14" name="Text 12"/>
          <p:cNvSpPr/>
          <p:nvPr/>
        </p:nvSpPr>
        <p:spPr>
          <a:xfrm>
            <a:off x="7936992" y="1965960"/>
            <a:ext cx="3383280" cy="640080"/>
          </a:xfrm>
          <a:prstGeom prst="rect">
            <a:avLst/>
          </a:prstGeom>
          <a:noFill/>
          <a:ln/>
        </p:spPr>
        <p:txBody>
          <a:bodyPr wrap="square" lIns="0" tIns="0" rIns="0" bIns="0" rtlCol="0" anchor="ctr"/>
          <a:lstStyle/>
          <a:p>
            <a:pPr indent="0" marL="0">
              <a:buNone/>
            </a:pPr>
            <a:r>
              <a:rPr lang="en-US" sz="2000" dirty="0">
                <a:solidFill>
                  <a:srgbClr val="EFE9D9"/>
                </a:solidFill>
                <a:latin typeface="Georgia" pitchFamily="34" charset="0"/>
                <a:ea typeface="Georgia" pitchFamily="34" charset="-122"/>
                <a:cs typeface="Georgia" pitchFamily="34" charset="-120"/>
              </a:rPr>
              <a:t>Not the production assignment.</a:t>
            </a:r>
            <a:endParaRPr lang="en-US" sz="2000" dirty="0"/>
          </a:p>
        </p:txBody>
      </p:sp>
      <p:sp>
        <p:nvSpPr>
          <p:cNvPr id="15" name="Text 13"/>
          <p:cNvSpPr/>
          <p:nvPr/>
        </p:nvSpPr>
        <p:spPr>
          <a:xfrm>
            <a:off x="7936992" y="2834640"/>
            <a:ext cx="3383280" cy="237744"/>
          </a:xfrm>
          <a:prstGeom prst="rect">
            <a:avLst/>
          </a:prstGeom>
          <a:noFill/>
          <a:ln/>
        </p:spPr>
        <p:txBody>
          <a:bodyPr wrap="square" lIns="0" tIns="0" rIns="0" bIns="0" rtlCol="0" anchor="ctr"/>
          <a:lstStyle/>
          <a:p>
            <a:pPr indent="0" marL="0">
              <a:buNone/>
            </a:pPr>
            <a:r>
              <a:rPr lang="en-US" sz="1300" dirty="0">
                <a:solidFill>
                  <a:srgbClr val="A7A79A"/>
                </a:solidFill>
                <a:latin typeface="Arial" pitchFamily="34" charset="0"/>
                <a:ea typeface="Arial" pitchFamily="34" charset="-122"/>
                <a:cs typeface="Arial" pitchFamily="34" charset="-120"/>
              </a:rPr>
              <a:t>MO 0, 1</a:t>
            </a:r>
            <a:endParaRPr lang="en-US" sz="1300" dirty="0"/>
          </a:p>
        </p:txBody>
      </p:sp>
      <p:sp>
        <p:nvSpPr>
          <p:cNvPr id="16" name="Text 14"/>
          <p:cNvSpPr/>
          <p:nvPr/>
        </p:nvSpPr>
        <p:spPr>
          <a:xfrm>
            <a:off x="7936992" y="3072384"/>
            <a:ext cx="3383280" cy="292608"/>
          </a:xfrm>
          <a:prstGeom prst="rect">
            <a:avLst/>
          </a:prstGeom>
          <a:noFill/>
          <a:ln/>
        </p:spPr>
        <p:txBody>
          <a:bodyPr wrap="square" lIns="0" tIns="0" rIns="0" bIns="0" rtlCol="0" anchor="ctr"/>
          <a:lstStyle/>
          <a:p>
            <a:pPr indent="0" marL="0">
              <a:buNone/>
            </a:pPr>
            <a:r>
              <a:rPr lang="en-US" sz="1800" dirty="0">
                <a:solidFill>
                  <a:srgbClr val="EFE9D9"/>
                </a:solidFill>
                <a:latin typeface="Georgia" pitchFamily="34" charset="0"/>
                <a:ea typeface="Georgia" pitchFamily="34" charset="-122"/>
                <a:cs typeface="Georgia" pitchFamily="34" charset="-120"/>
              </a:rPr>
              <a:t>Sulfur 1s</a:t>
            </a:r>
            <a:endParaRPr lang="en-US" sz="1800" dirty="0"/>
          </a:p>
        </p:txBody>
      </p:sp>
      <p:sp>
        <p:nvSpPr>
          <p:cNvPr id="17" name="Text 15"/>
          <p:cNvSpPr/>
          <p:nvPr/>
        </p:nvSpPr>
        <p:spPr>
          <a:xfrm>
            <a:off x="7936992" y="3520440"/>
            <a:ext cx="3383280" cy="237744"/>
          </a:xfrm>
          <a:prstGeom prst="rect">
            <a:avLst/>
          </a:prstGeom>
          <a:noFill/>
          <a:ln/>
        </p:spPr>
        <p:txBody>
          <a:bodyPr wrap="square" lIns="0" tIns="0" rIns="0" bIns="0" rtlCol="0" anchor="ctr"/>
          <a:lstStyle/>
          <a:p>
            <a:pPr indent="0" marL="0">
              <a:buNone/>
            </a:pPr>
            <a:r>
              <a:rPr lang="en-US" sz="1300" dirty="0">
                <a:solidFill>
                  <a:srgbClr val="A7A79A"/>
                </a:solidFill>
                <a:latin typeface="Arial" pitchFamily="34" charset="0"/>
                <a:ea typeface="Arial" pitchFamily="34" charset="-122"/>
                <a:cs typeface="Arial" pitchFamily="34" charset="-120"/>
              </a:rPr>
              <a:t>MO 2, 3</a:t>
            </a:r>
            <a:endParaRPr lang="en-US" sz="1300" dirty="0"/>
          </a:p>
        </p:txBody>
      </p:sp>
      <p:sp>
        <p:nvSpPr>
          <p:cNvPr id="18" name="Text 16"/>
          <p:cNvSpPr/>
          <p:nvPr/>
        </p:nvSpPr>
        <p:spPr>
          <a:xfrm>
            <a:off x="7936992" y="3758184"/>
            <a:ext cx="3383280" cy="292608"/>
          </a:xfrm>
          <a:prstGeom prst="rect">
            <a:avLst/>
          </a:prstGeom>
          <a:noFill/>
          <a:ln/>
        </p:spPr>
        <p:txBody>
          <a:bodyPr wrap="square" lIns="0" tIns="0" rIns="0" bIns="0" rtlCol="0" anchor="ctr"/>
          <a:lstStyle/>
          <a:p>
            <a:pPr indent="0" marL="0">
              <a:buNone/>
            </a:pPr>
            <a:r>
              <a:rPr lang="en-US" sz="1800" dirty="0">
                <a:solidFill>
                  <a:srgbClr val="EFE9D9"/>
                </a:solidFill>
                <a:latin typeface="Georgia" pitchFamily="34" charset="0"/>
                <a:ea typeface="Georgia" pitchFamily="34" charset="-122"/>
                <a:cs typeface="Georgia" pitchFamily="34" charset="-120"/>
              </a:rPr>
              <a:t>Oxygen 1s</a:t>
            </a:r>
            <a:endParaRPr lang="en-US" sz="1800" dirty="0"/>
          </a:p>
        </p:txBody>
      </p:sp>
      <p:sp>
        <p:nvSpPr>
          <p:cNvPr id="19" name="Text 17"/>
          <p:cNvSpPr/>
          <p:nvPr/>
        </p:nvSpPr>
        <p:spPr>
          <a:xfrm>
            <a:off x="7936992" y="4206240"/>
            <a:ext cx="3383280" cy="237744"/>
          </a:xfrm>
          <a:prstGeom prst="rect">
            <a:avLst/>
          </a:prstGeom>
          <a:noFill/>
          <a:ln/>
        </p:spPr>
        <p:txBody>
          <a:bodyPr wrap="square" lIns="0" tIns="0" rIns="0" bIns="0" rtlCol="0" anchor="ctr"/>
          <a:lstStyle/>
          <a:p>
            <a:pPr indent="0" marL="0">
              <a:buNone/>
            </a:pPr>
            <a:r>
              <a:rPr lang="en-US" sz="1300" dirty="0">
                <a:solidFill>
                  <a:srgbClr val="A7A79A"/>
                </a:solidFill>
                <a:latin typeface="Arial" pitchFamily="34" charset="0"/>
                <a:ea typeface="Arial" pitchFamily="34" charset="-122"/>
                <a:cs typeface="Arial" pitchFamily="34" charset="-120"/>
              </a:rPr>
              <a:t>MO 4, 5</a:t>
            </a:r>
            <a:endParaRPr lang="en-US" sz="1300" dirty="0"/>
          </a:p>
        </p:txBody>
      </p:sp>
      <p:sp>
        <p:nvSpPr>
          <p:cNvPr id="20" name="Text 18"/>
          <p:cNvSpPr/>
          <p:nvPr/>
        </p:nvSpPr>
        <p:spPr>
          <a:xfrm>
            <a:off x="7936992" y="4443984"/>
            <a:ext cx="3383280" cy="292608"/>
          </a:xfrm>
          <a:prstGeom prst="rect">
            <a:avLst/>
          </a:prstGeom>
          <a:noFill/>
          <a:ln/>
        </p:spPr>
        <p:txBody>
          <a:bodyPr wrap="square" lIns="0" tIns="0" rIns="0" bIns="0" rtlCol="0" anchor="ctr"/>
          <a:lstStyle/>
          <a:p>
            <a:pPr indent="0" marL="0">
              <a:buNone/>
            </a:pPr>
            <a:r>
              <a:rPr lang="en-US" sz="1800" dirty="0">
                <a:solidFill>
                  <a:srgbClr val="EFE9D9"/>
                </a:solidFill>
                <a:latin typeface="Georgia" pitchFamily="34" charset="0"/>
                <a:ea typeface="Georgia" pitchFamily="34" charset="-122"/>
                <a:cs typeface="Georgia" pitchFamily="34" charset="-120"/>
              </a:rPr>
              <a:t>Carbon 1s</a:t>
            </a:r>
            <a:endParaRPr lang="en-US" sz="1800" dirty="0"/>
          </a:p>
        </p:txBody>
      </p:sp>
      <p:sp>
        <p:nvSpPr>
          <p:cNvPr id="21" name="Text 19"/>
          <p:cNvSpPr/>
          <p:nvPr/>
        </p:nvSpPr>
        <p:spPr>
          <a:xfrm>
            <a:off x="7936992" y="4983480"/>
            <a:ext cx="3337560" cy="868680"/>
          </a:xfrm>
          <a:prstGeom prst="rect">
            <a:avLst/>
          </a:prstGeom>
          <a:noFill/>
          <a:ln/>
        </p:spPr>
        <p:txBody>
          <a:bodyPr wrap="square" lIns="0" tIns="0" rIns="0" bIns="0" rtlCol="0" anchor="ctr"/>
          <a:lstStyle/>
          <a:p>
            <a:pPr indent="0" marL="0">
              <a:buNone/>
            </a:pPr>
            <a:r>
              <a:rPr lang="en-US" sz="1300" dirty="0">
                <a:solidFill>
                  <a:srgbClr val="C9C4B4"/>
                </a:solidFill>
                <a:latin typeface="Arial" pitchFamily="34" charset="0"/>
                <a:ea typeface="Arial" pitchFamily="34" charset="-122"/>
                <a:cs typeface="Arial" pitchFamily="34" charset="-120"/>
              </a:rPr>
              <a:t>The two oxygen 1s orbitals are a mix of both carbonyls. Do not copy these indices unless thioindigo is the molecule you select.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STEP 3   ·   FIELD-FREE</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08  /  13</a:t>
            </a:r>
            <a:endParaRPr lang="en-US" sz="1100" dirty="0"/>
          </a:p>
        </p:txBody>
      </p:sp>
      <p:sp>
        <p:nvSpPr>
          <p:cNvPr id="4" name="Text 2"/>
          <p:cNvSpPr/>
          <p:nvPr/>
        </p:nvSpPr>
        <p:spPr>
          <a:xfrm>
            <a:off x="640080" y="621792"/>
            <a:ext cx="10911535" cy="457200"/>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The drive is the sudden hole, not a laser.</a:t>
            </a:r>
            <a:endParaRPr lang="en-US" sz="2800" dirty="0"/>
          </a:p>
        </p:txBody>
      </p:sp>
      <p:sp>
        <p:nvSpPr>
          <p:cNvPr id="5" name="Text 3"/>
          <p:cNvSpPr/>
          <p:nvPr/>
        </p:nvSpPr>
        <p:spPr>
          <a:xfrm>
            <a:off x="640080" y="1234440"/>
            <a:ext cx="731520" cy="274320"/>
          </a:xfrm>
          <a:prstGeom prst="rect">
            <a:avLst/>
          </a:prstGeom>
          <a:noFill/>
          <a:ln/>
        </p:spPr>
        <p:txBody>
          <a:bodyPr wrap="square" lIns="0" tIns="0" rIns="0" bIns="0" rtlCol="0" anchor="ctr"/>
          <a:lstStyle/>
          <a:p>
            <a:pPr indent="0" marL="0">
              <a:buNone/>
            </a:pPr>
            <a:r>
              <a:rPr lang="en-US" sz="1200" spc="80" kern="0" dirty="0">
                <a:solidFill>
                  <a:srgbClr val="7A7F76"/>
                </a:solidFill>
                <a:latin typeface="Arial" pitchFamily="34" charset="0"/>
                <a:ea typeface="Arial" pitchFamily="34" charset="-122"/>
                <a:cs typeface="Arial" pitchFamily="34" charset="-120"/>
              </a:rPr>
              <a:t>Run</a:t>
            </a:r>
            <a:endParaRPr lang="en-US" sz="1200" dirty="0"/>
          </a:p>
        </p:txBody>
      </p:sp>
      <p:sp>
        <p:nvSpPr>
          <p:cNvPr id="6" name="Text 4"/>
          <p:cNvSpPr/>
          <p:nvPr/>
        </p:nvSpPr>
        <p:spPr>
          <a:xfrm>
            <a:off x="1463040" y="1234440"/>
            <a:ext cx="1005840" cy="274320"/>
          </a:xfrm>
          <a:prstGeom prst="rect">
            <a:avLst/>
          </a:prstGeom>
          <a:noFill/>
          <a:ln/>
        </p:spPr>
        <p:txBody>
          <a:bodyPr wrap="square" lIns="0" tIns="0" rIns="0" bIns="0" rtlCol="0" anchor="ctr"/>
          <a:lstStyle/>
          <a:p>
            <a:pPr indent="0" marL="0">
              <a:buNone/>
            </a:pPr>
            <a:r>
              <a:rPr lang="en-US" sz="1200" spc="80" kern="0" dirty="0">
                <a:solidFill>
                  <a:srgbClr val="7A7F76"/>
                </a:solidFill>
                <a:latin typeface="Arial" pitchFamily="34" charset="0"/>
                <a:ea typeface="Arial" pitchFamily="34" charset="-122"/>
                <a:cs typeface="Arial" pitchFamily="34" charset="-120"/>
              </a:rPr>
              <a:t>CAP</a:t>
            </a:r>
            <a:endParaRPr lang="en-US" sz="1200" dirty="0"/>
          </a:p>
        </p:txBody>
      </p:sp>
      <p:sp>
        <p:nvSpPr>
          <p:cNvPr id="7" name="Text 5"/>
          <p:cNvSpPr/>
          <p:nvPr/>
        </p:nvSpPr>
        <p:spPr>
          <a:xfrm>
            <a:off x="2560320" y="1234440"/>
            <a:ext cx="1188720" cy="274320"/>
          </a:xfrm>
          <a:prstGeom prst="rect">
            <a:avLst/>
          </a:prstGeom>
          <a:noFill/>
          <a:ln/>
        </p:spPr>
        <p:txBody>
          <a:bodyPr wrap="square" lIns="0" tIns="0" rIns="0" bIns="0" rtlCol="0" anchor="ctr"/>
          <a:lstStyle/>
          <a:p>
            <a:pPr indent="0" marL="0">
              <a:buNone/>
            </a:pPr>
            <a:r>
              <a:rPr lang="en-US" sz="1200" spc="80" kern="0" dirty="0">
                <a:solidFill>
                  <a:srgbClr val="7A7F76"/>
                </a:solidFill>
                <a:latin typeface="Arial" pitchFamily="34" charset="0"/>
                <a:ea typeface="Arial" pitchFamily="34" charset="-122"/>
                <a:cs typeface="Arial" pitchFamily="34" charset="-120"/>
              </a:rPr>
              <a:t>Sphere</a:t>
            </a:r>
            <a:endParaRPr lang="en-US" sz="1200" dirty="0"/>
          </a:p>
        </p:txBody>
      </p:sp>
      <p:sp>
        <p:nvSpPr>
          <p:cNvPr id="8" name="Text 6"/>
          <p:cNvSpPr/>
          <p:nvPr/>
        </p:nvSpPr>
        <p:spPr>
          <a:xfrm>
            <a:off x="3840480" y="1234440"/>
            <a:ext cx="1371600" cy="274320"/>
          </a:xfrm>
          <a:prstGeom prst="rect">
            <a:avLst/>
          </a:prstGeom>
          <a:noFill/>
          <a:ln/>
        </p:spPr>
        <p:txBody>
          <a:bodyPr wrap="square" lIns="0" tIns="0" rIns="0" bIns="0" rtlCol="0" anchor="ctr"/>
          <a:lstStyle/>
          <a:p>
            <a:pPr indent="0" marL="0">
              <a:buNone/>
            </a:pPr>
            <a:r>
              <a:rPr lang="en-US" sz="1200" spc="80" kern="0" dirty="0">
                <a:solidFill>
                  <a:srgbClr val="7A7F76"/>
                </a:solidFill>
                <a:latin typeface="Arial" pitchFamily="34" charset="0"/>
                <a:ea typeface="Arial" pitchFamily="34" charset="-122"/>
                <a:cs typeface="Arial" pitchFamily="34" charset="-120"/>
              </a:rPr>
              <a:t>Radiates</a:t>
            </a:r>
            <a:endParaRPr lang="en-US" sz="1200" dirty="0"/>
          </a:p>
        </p:txBody>
      </p:sp>
      <p:sp>
        <p:nvSpPr>
          <p:cNvPr id="9" name="Text 7"/>
          <p:cNvSpPr/>
          <p:nvPr/>
        </p:nvSpPr>
        <p:spPr>
          <a:xfrm>
            <a:off x="5394960" y="1234440"/>
            <a:ext cx="6035040" cy="274320"/>
          </a:xfrm>
          <a:prstGeom prst="rect">
            <a:avLst/>
          </a:prstGeom>
          <a:noFill/>
          <a:ln/>
        </p:spPr>
        <p:txBody>
          <a:bodyPr wrap="square" lIns="0" tIns="0" rIns="0" bIns="0" rtlCol="0" anchor="ctr"/>
          <a:lstStyle/>
          <a:p>
            <a:pPr indent="0" marL="0">
              <a:buNone/>
            </a:pPr>
            <a:r>
              <a:rPr lang="en-US" sz="1200" spc="80" kern="0" dirty="0">
                <a:solidFill>
                  <a:srgbClr val="7A7F76"/>
                </a:solidFill>
                <a:latin typeface="Arial" pitchFamily="34" charset="0"/>
                <a:ea typeface="Arial" pitchFamily="34" charset="-122"/>
                <a:cs typeface="Arial" pitchFamily="34" charset="-120"/>
              </a:rPr>
              <a:t>What the difference is</a:t>
            </a:r>
            <a:endParaRPr lang="en-US" sz="1200" dirty="0"/>
          </a:p>
        </p:txBody>
      </p:sp>
      <p:sp>
        <p:nvSpPr>
          <p:cNvPr id="10" name="Shape 8"/>
          <p:cNvSpPr/>
          <p:nvPr/>
        </p:nvSpPr>
        <p:spPr>
          <a:xfrm>
            <a:off x="502920" y="1600200"/>
            <a:ext cx="11201400" cy="621792"/>
          </a:xfrm>
          <a:prstGeom prst="rect">
            <a:avLst/>
          </a:prstGeom>
          <a:solidFill>
            <a:srgbClr val="EBE6D6"/>
          </a:solidFill>
          <a:ln/>
        </p:spPr>
      </p:sp>
      <p:sp>
        <p:nvSpPr>
          <p:cNvPr id="11" name="Text 9"/>
          <p:cNvSpPr/>
          <p:nvPr/>
        </p:nvSpPr>
        <p:spPr>
          <a:xfrm>
            <a:off x="640080" y="1600200"/>
            <a:ext cx="731520" cy="621792"/>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D1</a:t>
            </a:r>
            <a:endParaRPr lang="en-US" sz="1600" dirty="0"/>
          </a:p>
        </p:txBody>
      </p:sp>
      <p:sp>
        <p:nvSpPr>
          <p:cNvPr id="12" name="Text 10"/>
          <p:cNvSpPr/>
          <p:nvPr/>
        </p:nvSpPr>
        <p:spPr>
          <a:xfrm>
            <a:off x="1463040" y="1600200"/>
            <a:ext cx="100584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off</a:t>
            </a:r>
            <a:endParaRPr lang="en-US" sz="1400" dirty="0"/>
          </a:p>
        </p:txBody>
      </p:sp>
      <p:sp>
        <p:nvSpPr>
          <p:cNvPr id="13" name="Text 11"/>
          <p:cNvSpPr/>
          <p:nvPr/>
        </p:nvSpPr>
        <p:spPr>
          <a:xfrm>
            <a:off x="2560320" y="1600200"/>
            <a:ext cx="118872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no</a:t>
            </a:r>
            <a:endParaRPr lang="en-US" sz="1400" dirty="0"/>
          </a:p>
        </p:txBody>
      </p:sp>
      <p:sp>
        <p:nvSpPr>
          <p:cNvPr id="14" name="Text 12"/>
          <p:cNvSpPr/>
          <p:nvPr/>
        </p:nvSpPr>
        <p:spPr>
          <a:xfrm>
            <a:off x="3840480" y="1600200"/>
            <a:ext cx="137160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5394960" y="1600200"/>
            <a:ext cx="6126480" cy="621792"/>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The free hole. Stock geometry. Can checkpoint.</a:t>
            </a:r>
            <a:endParaRPr lang="en-US" sz="1400" dirty="0"/>
          </a:p>
        </p:txBody>
      </p:sp>
      <p:sp>
        <p:nvSpPr>
          <p:cNvPr id="16" name="Shape 14"/>
          <p:cNvSpPr/>
          <p:nvPr/>
        </p:nvSpPr>
        <p:spPr>
          <a:xfrm>
            <a:off x="502920" y="2258568"/>
            <a:ext cx="11201400" cy="621792"/>
          </a:xfrm>
          <a:prstGeom prst="rect">
            <a:avLst/>
          </a:prstGeom>
          <a:solidFill>
            <a:srgbClr val="F1EDE3"/>
          </a:solidFill>
          <a:ln/>
        </p:spPr>
      </p:sp>
      <p:sp>
        <p:nvSpPr>
          <p:cNvPr id="17" name="Text 15"/>
          <p:cNvSpPr/>
          <p:nvPr/>
        </p:nvSpPr>
        <p:spPr>
          <a:xfrm>
            <a:off x="640080" y="2258568"/>
            <a:ext cx="731520" cy="621792"/>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D2</a:t>
            </a:r>
            <a:endParaRPr lang="en-US" sz="1600" dirty="0"/>
          </a:p>
        </p:txBody>
      </p:sp>
      <p:sp>
        <p:nvSpPr>
          <p:cNvPr id="18" name="Text 16"/>
          <p:cNvSpPr/>
          <p:nvPr/>
        </p:nvSpPr>
        <p:spPr>
          <a:xfrm>
            <a:off x="1463040" y="2258568"/>
            <a:ext cx="100584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on</a:t>
            </a:r>
            <a:endParaRPr lang="en-US" sz="1400" dirty="0"/>
          </a:p>
        </p:txBody>
      </p:sp>
      <p:sp>
        <p:nvSpPr>
          <p:cNvPr id="19" name="Text 17"/>
          <p:cNvSpPr/>
          <p:nvPr/>
        </p:nvSpPr>
        <p:spPr>
          <a:xfrm>
            <a:off x="2560320" y="2258568"/>
            <a:ext cx="118872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no</a:t>
            </a:r>
            <a:endParaRPr lang="en-US" sz="1400" dirty="0"/>
          </a:p>
        </p:txBody>
      </p:sp>
      <p:sp>
        <p:nvSpPr>
          <p:cNvPr id="20" name="Text 18"/>
          <p:cNvSpPr/>
          <p:nvPr/>
        </p:nvSpPr>
        <p:spPr>
          <a:xfrm>
            <a:off x="3840480" y="2258568"/>
            <a:ext cx="137160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a:t>
            </a:r>
            <a:endParaRPr lang="en-US" sz="1400" dirty="0"/>
          </a:p>
        </p:txBody>
      </p:sp>
      <p:sp>
        <p:nvSpPr>
          <p:cNvPr id="21" name="Text 19"/>
          <p:cNvSpPr/>
          <p:nvPr/>
        </p:nvSpPr>
        <p:spPr>
          <a:xfrm>
            <a:off x="5394960" y="2258568"/>
            <a:ext cx="6126480" cy="621792"/>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D2 − D1 is the CAP on that free hole.</a:t>
            </a:r>
            <a:endParaRPr lang="en-US" sz="1400" dirty="0"/>
          </a:p>
        </p:txBody>
      </p:sp>
      <p:sp>
        <p:nvSpPr>
          <p:cNvPr id="22" name="Shape 20"/>
          <p:cNvSpPr/>
          <p:nvPr/>
        </p:nvSpPr>
        <p:spPr>
          <a:xfrm>
            <a:off x="502920" y="2916936"/>
            <a:ext cx="11201400" cy="621792"/>
          </a:xfrm>
          <a:prstGeom prst="rect">
            <a:avLst/>
          </a:prstGeom>
          <a:solidFill>
            <a:srgbClr val="EBE6D6"/>
          </a:solidFill>
          <a:ln/>
        </p:spPr>
      </p:sp>
      <p:sp>
        <p:nvSpPr>
          <p:cNvPr id="23" name="Text 21"/>
          <p:cNvSpPr/>
          <p:nvPr/>
        </p:nvSpPr>
        <p:spPr>
          <a:xfrm>
            <a:off x="640080" y="2916936"/>
            <a:ext cx="731520" cy="621792"/>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D3</a:t>
            </a:r>
            <a:endParaRPr lang="en-US" sz="1600" dirty="0"/>
          </a:p>
        </p:txBody>
      </p:sp>
      <p:sp>
        <p:nvSpPr>
          <p:cNvPr id="24" name="Text 22"/>
          <p:cNvSpPr/>
          <p:nvPr/>
        </p:nvSpPr>
        <p:spPr>
          <a:xfrm>
            <a:off x="1463040" y="2916936"/>
            <a:ext cx="100584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off</a:t>
            </a:r>
            <a:endParaRPr lang="en-US" sz="1400" dirty="0"/>
          </a:p>
        </p:txBody>
      </p:sp>
      <p:sp>
        <p:nvSpPr>
          <p:cNvPr id="25" name="Text 23"/>
          <p:cNvSpPr/>
          <p:nvPr/>
        </p:nvSpPr>
        <p:spPr>
          <a:xfrm>
            <a:off x="2560320" y="2916936"/>
            <a:ext cx="118872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yes</a:t>
            </a:r>
            <a:endParaRPr lang="en-US" sz="1400" dirty="0"/>
          </a:p>
        </p:txBody>
      </p:sp>
      <p:sp>
        <p:nvSpPr>
          <p:cNvPr id="26" name="Text 24"/>
          <p:cNvSpPr/>
          <p:nvPr/>
        </p:nvSpPr>
        <p:spPr>
          <a:xfrm>
            <a:off x="3840480" y="2916936"/>
            <a:ext cx="137160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on</a:t>
            </a:r>
            <a:endParaRPr lang="en-US" sz="1400" dirty="0"/>
          </a:p>
        </p:txBody>
      </p:sp>
      <p:sp>
        <p:nvSpPr>
          <p:cNvPr id="27" name="Text 25"/>
          <p:cNvSpPr/>
          <p:nvPr/>
        </p:nvSpPr>
        <p:spPr>
          <a:xfrm>
            <a:off x="5394960" y="2916936"/>
            <a:ext cx="6126480" cy="621792"/>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D3 − D1 is the sphere when the molecule radiates.</a:t>
            </a:r>
            <a:endParaRPr lang="en-US" sz="1400" dirty="0"/>
          </a:p>
        </p:txBody>
      </p:sp>
      <p:sp>
        <p:nvSpPr>
          <p:cNvPr id="28" name="Shape 26"/>
          <p:cNvSpPr/>
          <p:nvPr/>
        </p:nvSpPr>
        <p:spPr>
          <a:xfrm>
            <a:off x="502920" y="3575304"/>
            <a:ext cx="11201400" cy="621792"/>
          </a:xfrm>
          <a:prstGeom prst="rect">
            <a:avLst/>
          </a:prstGeom>
          <a:solidFill>
            <a:srgbClr val="F1EDE3"/>
          </a:solidFill>
          <a:ln/>
        </p:spPr>
      </p:sp>
      <p:sp>
        <p:nvSpPr>
          <p:cNvPr id="29" name="Text 27"/>
          <p:cNvSpPr/>
          <p:nvPr/>
        </p:nvSpPr>
        <p:spPr>
          <a:xfrm>
            <a:off x="640080" y="3575304"/>
            <a:ext cx="731520" cy="621792"/>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D4</a:t>
            </a:r>
            <a:endParaRPr lang="en-US" sz="1600" dirty="0"/>
          </a:p>
        </p:txBody>
      </p:sp>
      <p:sp>
        <p:nvSpPr>
          <p:cNvPr id="30" name="Text 28"/>
          <p:cNvSpPr/>
          <p:nvPr/>
        </p:nvSpPr>
        <p:spPr>
          <a:xfrm>
            <a:off x="1463040" y="3575304"/>
            <a:ext cx="100584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off</a:t>
            </a:r>
            <a:endParaRPr lang="en-US" sz="1400" dirty="0"/>
          </a:p>
        </p:txBody>
      </p:sp>
      <p:sp>
        <p:nvSpPr>
          <p:cNvPr id="31" name="Text 29"/>
          <p:cNvSpPr/>
          <p:nvPr/>
        </p:nvSpPr>
        <p:spPr>
          <a:xfrm>
            <a:off x="2560320" y="3575304"/>
            <a:ext cx="118872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yes</a:t>
            </a:r>
            <a:endParaRPr lang="en-US" sz="1400" dirty="0"/>
          </a:p>
        </p:txBody>
      </p:sp>
      <p:sp>
        <p:nvSpPr>
          <p:cNvPr id="32" name="Text 30"/>
          <p:cNvSpPr/>
          <p:nvPr/>
        </p:nvSpPr>
        <p:spPr>
          <a:xfrm>
            <a:off x="3840480" y="3575304"/>
            <a:ext cx="137160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off</a:t>
            </a:r>
            <a:endParaRPr lang="en-US" sz="1400" dirty="0"/>
          </a:p>
        </p:txBody>
      </p:sp>
      <p:sp>
        <p:nvSpPr>
          <p:cNvPr id="33" name="Text 31"/>
          <p:cNvSpPr/>
          <p:nvPr/>
        </p:nvSpPr>
        <p:spPr>
          <a:xfrm>
            <a:off x="5394960" y="3575304"/>
            <a:ext cx="6126480" cy="621792"/>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If D4 matches D1, the effect is the radiated field coming back.</a:t>
            </a:r>
            <a:endParaRPr lang="en-US" sz="1400" dirty="0"/>
          </a:p>
        </p:txBody>
      </p:sp>
      <p:sp>
        <p:nvSpPr>
          <p:cNvPr id="34" name="Shape 32"/>
          <p:cNvSpPr/>
          <p:nvPr/>
        </p:nvSpPr>
        <p:spPr>
          <a:xfrm>
            <a:off x="502920" y="4233672"/>
            <a:ext cx="11201400" cy="621792"/>
          </a:xfrm>
          <a:prstGeom prst="rect">
            <a:avLst/>
          </a:prstGeom>
          <a:solidFill>
            <a:srgbClr val="EBE6D6"/>
          </a:solidFill>
          <a:ln/>
        </p:spPr>
      </p:sp>
      <p:sp>
        <p:nvSpPr>
          <p:cNvPr id="35" name="Text 33"/>
          <p:cNvSpPr/>
          <p:nvPr/>
        </p:nvSpPr>
        <p:spPr>
          <a:xfrm>
            <a:off x="640080" y="4233672"/>
            <a:ext cx="731520" cy="621792"/>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D5</a:t>
            </a:r>
            <a:endParaRPr lang="en-US" sz="1600" dirty="0"/>
          </a:p>
        </p:txBody>
      </p:sp>
      <p:sp>
        <p:nvSpPr>
          <p:cNvPr id="36" name="Text 34"/>
          <p:cNvSpPr/>
          <p:nvPr/>
        </p:nvSpPr>
        <p:spPr>
          <a:xfrm>
            <a:off x="1463040" y="4233672"/>
            <a:ext cx="100584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on</a:t>
            </a:r>
            <a:endParaRPr lang="en-US" sz="1400" dirty="0"/>
          </a:p>
        </p:txBody>
      </p:sp>
      <p:sp>
        <p:nvSpPr>
          <p:cNvPr id="37" name="Text 35"/>
          <p:cNvSpPr/>
          <p:nvPr/>
        </p:nvSpPr>
        <p:spPr>
          <a:xfrm>
            <a:off x="2560320" y="4233672"/>
            <a:ext cx="118872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yes</a:t>
            </a:r>
            <a:endParaRPr lang="en-US" sz="1400" dirty="0"/>
          </a:p>
        </p:txBody>
      </p:sp>
      <p:sp>
        <p:nvSpPr>
          <p:cNvPr id="38" name="Text 36"/>
          <p:cNvSpPr/>
          <p:nvPr/>
        </p:nvSpPr>
        <p:spPr>
          <a:xfrm>
            <a:off x="3840480" y="4233672"/>
            <a:ext cx="137160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on</a:t>
            </a:r>
            <a:endParaRPr lang="en-US" sz="1400" dirty="0"/>
          </a:p>
        </p:txBody>
      </p:sp>
      <p:sp>
        <p:nvSpPr>
          <p:cNvPr id="39" name="Text 37"/>
          <p:cNvSpPr/>
          <p:nvPr/>
        </p:nvSpPr>
        <p:spPr>
          <a:xfrm>
            <a:off x="5394960" y="4233672"/>
            <a:ext cx="6126480" cy="621792"/>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D5 − D3 is the CAP on the radiating case.</a:t>
            </a:r>
            <a:endParaRPr lang="en-US" sz="1400" dirty="0"/>
          </a:p>
        </p:txBody>
      </p:sp>
      <p:sp>
        <p:nvSpPr>
          <p:cNvPr id="40" name="Shape 38"/>
          <p:cNvSpPr/>
          <p:nvPr/>
        </p:nvSpPr>
        <p:spPr>
          <a:xfrm>
            <a:off x="502920" y="4892040"/>
            <a:ext cx="11201400" cy="621792"/>
          </a:xfrm>
          <a:prstGeom prst="rect">
            <a:avLst/>
          </a:prstGeom>
          <a:solidFill>
            <a:srgbClr val="F1EDE3"/>
          </a:solidFill>
          <a:ln/>
        </p:spPr>
      </p:sp>
      <p:sp>
        <p:nvSpPr>
          <p:cNvPr id="41" name="Text 39"/>
          <p:cNvSpPr/>
          <p:nvPr/>
        </p:nvSpPr>
        <p:spPr>
          <a:xfrm>
            <a:off x="640080" y="4892040"/>
            <a:ext cx="731520" cy="621792"/>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D6</a:t>
            </a:r>
            <a:endParaRPr lang="en-US" sz="1600" dirty="0"/>
          </a:p>
        </p:txBody>
      </p:sp>
      <p:sp>
        <p:nvSpPr>
          <p:cNvPr id="42" name="Text 40"/>
          <p:cNvSpPr/>
          <p:nvPr/>
        </p:nvSpPr>
        <p:spPr>
          <a:xfrm>
            <a:off x="1463040" y="4892040"/>
            <a:ext cx="100584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on</a:t>
            </a:r>
            <a:endParaRPr lang="en-US" sz="1400" dirty="0"/>
          </a:p>
        </p:txBody>
      </p:sp>
      <p:sp>
        <p:nvSpPr>
          <p:cNvPr id="43" name="Text 41"/>
          <p:cNvSpPr/>
          <p:nvPr/>
        </p:nvSpPr>
        <p:spPr>
          <a:xfrm>
            <a:off x="2560320" y="4892040"/>
            <a:ext cx="118872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yes</a:t>
            </a:r>
            <a:endParaRPr lang="en-US" sz="1400" dirty="0"/>
          </a:p>
        </p:txBody>
      </p:sp>
      <p:sp>
        <p:nvSpPr>
          <p:cNvPr id="44" name="Text 42"/>
          <p:cNvSpPr/>
          <p:nvPr/>
        </p:nvSpPr>
        <p:spPr>
          <a:xfrm>
            <a:off x="3840480" y="4892040"/>
            <a:ext cx="1371600" cy="621792"/>
          </a:xfrm>
          <a:prstGeom prst="rect">
            <a:avLst/>
          </a:prstGeom>
          <a:noFill/>
          <a:ln/>
        </p:spPr>
        <p:txBody>
          <a:bodyPr wrap="square" lIns="0" tIns="0" rIns="0" bIns="0" rtlCol="0" anchor="ctr"/>
          <a:lstStyle/>
          <a:p>
            <a:pPr indent="0" marL="0">
              <a:buNone/>
            </a:pPr>
            <a:r>
              <a:rPr lang="en-US" sz="1400" dirty="0">
                <a:solidFill>
                  <a:srgbClr val="1B2420"/>
                </a:solidFill>
                <a:latin typeface="Arial" pitchFamily="34" charset="0"/>
                <a:ea typeface="Arial" pitchFamily="34" charset="-122"/>
                <a:cs typeface="Arial" pitchFamily="34" charset="-120"/>
              </a:rPr>
              <a:t>off</a:t>
            </a:r>
            <a:endParaRPr lang="en-US" sz="1400" dirty="0"/>
          </a:p>
        </p:txBody>
      </p:sp>
      <p:sp>
        <p:nvSpPr>
          <p:cNvPr id="45" name="Text 43"/>
          <p:cNvSpPr/>
          <p:nvPr/>
        </p:nvSpPr>
        <p:spPr>
          <a:xfrm>
            <a:off x="5394960" y="4892040"/>
            <a:ext cx="6126480" cy="621792"/>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D6 − D4 is the CAP when the molecule does not source the cell.</a:t>
            </a:r>
            <a:endParaRPr lang="en-US" sz="1400" dirty="0"/>
          </a:p>
        </p:txBody>
      </p:sp>
      <p:sp>
        <p:nvSpPr>
          <p:cNvPr id="46" name="Text 44"/>
          <p:cNvSpPr/>
          <p:nvPr/>
        </p:nvSpPr>
        <p:spPr>
          <a:xfrm>
            <a:off x="640080" y="5623560"/>
            <a:ext cx="10881360" cy="777240"/>
          </a:xfrm>
          <a:prstGeom prst="rect">
            <a:avLst/>
          </a:prstGeom>
          <a:noFill/>
          <a:ln/>
        </p:spPr>
        <p:txBody>
          <a:bodyPr wrap="square" lIns="0" tIns="0" rIns="0" bIns="0" rtlCol="0" anchor="ctr"/>
          <a:lstStyle/>
          <a:p>
            <a:pPr indent="0" marL="0">
              <a:buNone/>
            </a:pPr>
            <a:r>
              <a:rPr lang="en-US" sz="1400" i="1" dirty="0">
                <a:solidFill>
                  <a:srgbClr val="3B5D3A"/>
                </a:solidFill>
                <a:latin typeface="Arial" pitchFamily="34" charset="0"/>
                <a:ea typeface="Arial" pitchFamily="34" charset="-122"/>
                <a:cs typeface="Arial" pitchFamily="34" charset="-120"/>
              </a:rPr>
              <a:t>After D1, paste the rotation that puts the core-hole dipole on +x into D3–D6 only. Compare occupations on the first 400 au. The hybrid step is 0.1 au, not 0.05.</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STEP 4   ·   δ-KICK</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09  /  13</a:t>
            </a:r>
            <a:endParaRPr lang="en-US" sz="1100" dirty="0"/>
          </a:p>
        </p:txBody>
      </p:sp>
      <p:sp>
        <p:nvSpPr>
          <p:cNvPr id="4" name="Text 2"/>
          <p:cNvSpPr/>
          <p:nvPr/>
        </p:nvSpPr>
        <p:spPr>
          <a:xfrm>
            <a:off x="640080" y="640080"/>
            <a:ext cx="10911535" cy="502920"/>
          </a:xfrm>
          <a:prstGeom prst="rect">
            <a:avLst/>
          </a:prstGeom>
          <a:noFill/>
          <a:ln/>
        </p:spPr>
        <p:txBody>
          <a:bodyPr wrap="square" lIns="0" tIns="0" rIns="0" bIns="0" rtlCol="0" anchor="t"/>
          <a:lstStyle/>
          <a:p>
            <a:pPr indent="0" marL="0">
              <a:buNone/>
            </a:pPr>
            <a:r>
              <a:rPr lang="en-US" sz="3000" dirty="0">
                <a:solidFill>
                  <a:srgbClr val="1B2420"/>
                </a:solidFill>
                <a:latin typeface="Georgia" pitchFamily="34" charset="0"/>
                <a:ea typeface="Georgia" pitchFamily="34" charset="-122"/>
                <a:cs typeface="Georgia" pitchFamily="34" charset="-120"/>
              </a:rPr>
              <a:t>The real-time spectrum of the molecule alone.</a:t>
            </a:r>
            <a:endParaRPr lang="en-US" sz="3000" dirty="0"/>
          </a:p>
        </p:txBody>
      </p:sp>
      <p:sp>
        <p:nvSpPr>
          <p:cNvPr id="5" name="Text 3"/>
          <p:cNvSpPr/>
          <p:nvPr/>
        </p:nvSpPr>
        <p:spPr>
          <a:xfrm>
            <a:off x="640080" y="1325880"/>
            <a:ext cx="10972800" cy="960120"/>
          </a:xfrm>
          <a:prstGeom prst="rect">
            <a:avLst/>
          </a:prstGeom>
          <a:noFill/>
          <a:ln/>
        </p:spPr>
        <p:txBody>
          <a:bodyPr wrap="square" lIns="0" tIns="0" rIns="0" bIns="0" rtlCol="0" anchor="ctr"/>
          <a:lstStyle/>
          <a:p>
            <a:pPr indent="0" marL="0">
              <a:buNone/>
            </a:pPr>
            <a:r>
              <a:rPr lang="en-US" sz="1600" dirty="0">
                <a:solidFill>
                  <a:srgbClr val="3B3F3A"/>
                </a:solidFill>
                <a:latin typeface="Arial" pitchFamily="34" charset="0"/>
                <a:ea typeface="Arial" pitchFamily="34" charset="-122"/>
                <a:cs typeface="Arial" pitchFamily="34" charset="-120"/>
              </a:rPr>
              <a:t>Absorption driver, polarization full, so x, y, and z are averaged. Kick 0.001 au. Propagate 4000 au. The Fourier window γ = 0.01 is about 0.27 eV half-width. It is not a substitute for the CAP. The plotted window is 1.5–15 eV unless the bright root sits above that.</a:t>
            </a:r>
            <a:endParaRPr lang="en-US" sz="1600" dirty="0"/>
          </a:p>
        </p:txBody>
      </p:sp>
      <p:sp>
        <p:nvSpPr>
          <p:cNvPr id="6" name="Shape 4"/>
          <p:cNvSpPr/>
          <p:nvPr/>
        </p:nvSpPr>
        <p:spPr>
          <a:xfrm>
            <a:off x="640080" y="2514600"/>
            <a:ext cx="5440680" cy="1389888"/>
          </a:xfrm>
          <a:prstGeom prst="rect">
            <a:avLst/>
          </a:prstGeom>
          <a:solidFill>
            <a:srgbClr val="F5EFE2"/>
          </a:solidFill>
          <a:ln w="9525">
            <a:solidFill>
              <a:srgbClr val="C9C4B4"/>
            </a:solidFill>
            <a:prstDash val="solid"/>
          </a:ln>
        </p:spPr>
      </p:sp>
      <p:sp>
        <p:nvSpPr>
          <p:cNvPr id="7" name="Text 5"/>
          <p:cNvSpPr/>
          <p:nvPr/>
        </p:nvSpPr>
        <p:spPr>
          <a:xfrm>
            <a:off x="841248" y="2660904"/>
            <a:ext cx="1005840" cy="36576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K1</a:t>
            </a:r>
            <a:endParaRPr lang="en-US" sz="2000" dirty="0"/>
          </a:p>
        </p:txBody>
      </p:sp>
      <p:sp>
        <p:nvSpPr>
          <p:cNvPr id="8" name="Text 6"/>
          <p:cNvSpPr/>
          <p:nvPr/>
        </p:nvSpPr>
        <p:spPr>
          <a:xfrm>
            <a:off x="1874520" y="2697480"/>
            <a:ext cx="3931920" cy="329184"/>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Neutral, no CAP</a:t>
            </a:r>
            <a:endParaRPr lang="en-US" sz="1600" dirty="0"/>
          </a:p>
        </p:txBody>
      </p:sp>
      <p:sp>
        <p:nvSpPr>
          <p:cNvPr id="9" name="Text 7"/>
          <p:cNvSpPr/>
          <p:nvPr/>
        </p:nvSpPr>
        <p:spPr>
          <a:xfrm>
            <a:off x="841248" y="3154680"/>
            <a:ext cx="5029200" cy="566928"/>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The ordinary spectrum. A rotation would not change the averaged curve.</a:t>
            </a:r>
            <a:endParaRPr lang="en-US" sz="1400" dirty="0"/>
          </a:p>
        </p:txBody>
      </p:sp>
      <p:sp>
        <p:nvSpPr>
          <p:cNvPr id="10" name="Shape 8"/>
          <p:cNvSpPr/>
          <p:nvPr/>
        </p:nvSpPr>
        <p:spPr>
          <a:xfrm>
            <a:off x="6263640" y="2514600"/>
            <a:ext cx="5440680" cy="1389888"/>
          </a:xfrm>
          <a:prstGeom prst="rect">
            <a:avLst/>
          </a:prstGeom>
          <a:solidFill>
            <a:srgbClr val="F5EFE2"/>
          </a:solidFill>
          <a:ln w="9525">
            <a:solidFill>
              <a:srgbClr val="C9C4B4"/>
            </a:solidFill>
            <a:prstDash val="solid"/>
          </a:ln>
        </p:spPr>
      </p:sp>
      <p:sp>
        <p:nvSpPr>
          <p:cNvPr id="11" name="Text 9"/>
          <p:cNvSpPr/>
          <p:nvPr/>
        </p:nvSpPr>
        <p:spPr>
          <a:xfrm>
            <a:off x="6464808" y="2660904"/>
            <a:ext cx="1005840" cy="36576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K2</a:t>
            </a:r>
            <a:endParaRPr lang="en-US" sz="2000" dirty="0"/>
          </a:p>
        </p:txBody>
      </p:sp>
      <p:sp>
        <p:nvSpPr>
          <p:cNvPr id="12" name="Text 10"/>
          <p:cNvSpPr/>
          <p:nvPr/>
        </p:nvSpPr>
        <p:spPr>
          <a:xfrm>
            <a:off x="7498080" y="2697480"/>
            <a:ext cx="3931920" cy="329184"/>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Neutral, CAP on</a:t>
            </a:r>
            <a:endParaRPr lang="en-US" sz="1600" dirty="0"/>
          </a:p>
        </p:txBody>
      </p:sp>
      <p:sp>
        <p:nvSpPr>
          <p:cNvPr id="13" name="Text 11"/>
          <p:cNvSpPr/>
          <p:nvPr/>
        </p:nvSpPr>
        <p:spPr>
          <a:xfrm>
            <a:off x="6464808" y="3154680"/>
            <a:ext cx="5029200" cy="566928"/>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K2 − K1 is the CAP on the closed shell.</a:t>
            </a:r>
            <a:endParaRPr lang="en-US" sz="1400" dirty="0"/>
          </a:p>
        </p:txBody>
      </p:sp>
      <p:sp>
        <p:nvSpPr>
          <p:cNvPr id="14" name="Shape 12"/>
          <p:cNvSpPr/>
          <p:nvPr/>
        </p:nvSpPr>
        <p:spPr>
          <a:xfrm>
            <a:off x="640080" y="4069080"/>
            <a:ext cx="5440680" cy="1389888"/>
          </a:xfrm>
          <a:prstGeom prst="rect">
            <a:avLst/>
          </a:prstGeom>
          <a:solidFill>
            <a:srgbClr val="F5EFE2"/>
          </a:solidFill>
          <a:ln w="9525">
            <a:solidFill>
              <a:srgbClr val="C9C4B4"/>
            </a:solidFill>
            <a:prstDash val="solid"/>
          </a:ln>
        </p:spPr>
      </p:sp>
      <p:sp>
        <p:nvSpPr>
          <p:cNvPr id="15" name="Text 13"/>
          <p:cNvSpPr/>
          <p:nvPr/>
        </p:nvSpPr>
        <p:spPr>
          <a:xfrm>
            <a:off x="841248" y="4215384"/>
            <a:ext cx="1005840" cy="36576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K3</a:t>
            </a:r>
            <a:endParaRPr lang="en-US" sz="2000" dirty="0"/>
          </a:p>
        </p:txBody>
      </p:sp>
      <p:sp>
        <p:nvSpPr>
          <p:cNvPr id="16" name="Text 14"/>
          <p:cNvSpPr/>
          <p:nvPr/>
        </p:nvSpPr>
        <p:spPr>
          <a:xfrm>
            <a:off x="1874520" y="4251960"/>
            <a:ext cx="3931920" cy="329184"/>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DCH, no CAP</a:t>
            </a:r>
            <a:endParaRPr lang="en-US" sz="1600" dirty="0"/>
          </a:p>
        </p:txBody>
      </p:sp>
      <p:sp>
        <p:nvSpPr>
          <p:cNvPr id="17" name="Text 15"/>
          <p:cNvSpPr/>
          <p:nvPr/>
        </p:nvSpPr>
        <p:spPr>
          <a:xfrm>
            <a:off x="841248" y="4709160"/>
            <a:ext cx="5029200" cy="566928"/>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K3 − K1 is the sudden hole.</a:t>
            </a:r>
            <a:endParaRPr lang="en-US" sz="1400" dirty="0"/>
          </a:p>
        </p:txBody>
      </p:sp>
      <p:sp>
        <p:nvSpPr>
          <p:cNvPr id="18" name="Shape 16"/>
          <p:cNvSpPr/>
          <p:nvPr/>
        </p:nvSpPr>
        <p:spPr>
          <a:xfrm>
            <a:off x="6263640" y="4069080"/>
            <a:ext cx="5440680" cy="1389888"/>
          </a:xfrm>
          <a:prstGeom prst="rect">
            <a:avLst/>
          </a:prstGeom>
          <a:solidFill>
            <a:srgbClr val="F5EFE2"/>
          </a:solidFill>
          <a:ln w="9525">
            <a:solidFill>
              <a:srgbClr val="C9C4B4"/>
            </a:solidFill>
            <a:prstDash val="solid"/>
          </a:ln>
        </p:spPr>
      </p:sp>
      <p:sp>
        <p:nvSpPr>
          <p:cNvPr id="19" name="Text 17"/>
          <p:cNvSpPr/>
          <p:nvPr/>
        </p:nvSpPr>
        <p:spPr>
          <a:xfrm>
            <a:off x="6464808" y="4215384"/>
            <a:ext cx="1005840" cy="365760"/>
          </a:xfrm>
          <a:prstGeom prst="rect">
            <a:avLst/>
          </a:prstGeom>
          <a:noFill/>
          <a:ln/>
        </p:spPr>
        <p:txBody>
          <a:bodyPr wrap="square" lIns="0" tIns="0" rIns="0" bIns="0" rtlCol="0" anchor="ctr"/>
          <a:lstStyle/>
          <a:p>
            <a:pPr indent="0" marL="0">
              <a:buNone/>
            </a:pPr>
            <a:r>
              <a:rPr lang="en-US" sz="2000" dirty="0">
                <a:solidFill>
                  <a:srgbClr val="3B5D3A"/>
                </a:solidFill>
                <a:latin typeface="Georgia" pitchFamily="34" charset="0"/>
                <a:ea typeface="Georgia" pitchFamily="34" charset="-122"/>
                <a:cs typeface="Georgia" pitchFamily="34" charset="-120"/>
              </a:rPr>
              <a:t>K4</a:t>
            </a:r>
            <a:endParaRPr lang="en-US" sz="2000" dirty="0"/>
          </a:p>
        </p:txBody>
      </p:sp>
      <p:sp>
        <p:nvSpPr>
          <p:cNvPr id="20" name="Text 18"/>
          <p:cNvSpPr/>
          <p:nvPr/>
        </p:nvSpPr>
        <p:spPr>
          <a:xfrm>
            <a:off x="7498080" y="4251960"/>
            <a:ext cx="3931920" cy="329184"/>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DCH, CAP on</a:t>
            </a:r>
            <a:endParaRPr lang="en-US" sz="1600" dirty="0"/>
          </a:p>
        </p:txBody>
      </p:sp>
      <p:sp>
        <p:nvSpPr>
          <p:cNvPr id="21" name="Text 19"/>
          <p:cNvSpPr/>
          <p:nvPr/>
        </p:nvSpPr>
        <p:spPr>
          <a:xfrm>
            <a:off x="6464808" y="4709160"/>
            <a:ext cx="5029200" cy="566928"/>
          </a:xfrm>
          <a:prstGeom prst="rect">
            <a:avLst/>
          </a:prstGeom>
          <a:noFill/>
          <a:ln/>
        </p:spPr>
        <p:txBody>
          <a:bodyPr wrap="square" lIns="0" tIns="0" rIns="0" bIns="0" rtlCol="0" anchor="ctr"/>
          <a:lstStyle/>
          <a:p>
            <a:pPr indent="0" marL="0">
              <a:buNone/>
            </a:pPr>
            <a:r>
              <a:rPr lang="en-US" sz="1400" dirty="0">
                <a:solidFill>
                  <a:srgbClr val="3B3F3A"/>
                </a:solidFill>
                <a:latin typeface="Arial" pitchFamily="34" charset="0"/>
                <a:ea typeface="Arial" pitchFamily="34" charset="-122"/>
                <a:cs typeface="Arial" pitchFamily="34" charset="-120"/>
              </a:rPr>
              <a:t>K4 − K3 is the CAP on the hole.</a:t>
            </a:r>
            <a:endParaRPr lang="en-US" sz="1400" dirty="0"/>
          </a:p>
        </p:txBody>
      </p:sp>
      <p:sp>
        <p:nvSpPr>
          <p:cNvPr id="22" name="Text 20"/>
          <p:cNvSpPr/>
          <p:nvPr/>
        </p:nvSpPr>
        <p:spPr>
          <a:xfrm>
            <a:off x="640080" y="5760720"/>
            <a:ext cx="10972800" cy="640080"/>
          </a:xfrm>
          <a:prstGeom prst="rect">
            <a:avLst/>
          </a:prstGeom>
          <a:noFill/>
          <a:ln/>
        </p:spPr>
        <p:txBody>
          <a:bodyPr wrap="square" lIns="0" tIns="0" rIns="0" bIns="0" rtlCol="0" anchor="ctr"/>
          <a:lstStyle/>
          <a:p>
            <a:pPr indent="0" marL="0">
              <a:buNone/>
            </a:pPr>
            <a:r>
              <a:rPr lang="en-US" sz="1400" i="1" dirty="0">
                <a:solidFill>
                  <a:srgbClr val="3B5D3A"/>
                </a:solidFill>
                <a:latin typeface="Arial" pitchFamily="34" charset="0"/>
                <a:ea typeface="Arial" pitchFamily="34" charset="-122"/>
                <a:cs typeface="Arial" pitchFamily="34" charset="-120"/>
              </a:rPr>
              <a:t>Step 1’s linear response is the check on the same neutral molecule. It is not a substitute for K1. K1’s three dipole files are a valence axis, not the rotation used for D3–D6.</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STEP 5   ·   GAUSSIAN HYBRID</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10  /  13</a:t>
            </a:r>
            <a:endParaRPr lang="en-US" sz="1100" dirty="0"/>
          </a:p>
        </p:txBody>
      </p:sp>
      <p:sp>
        <p:nvSpPr>
          <p:cNvPr id="4" name="Text 2"/>
          <p:cNvSpPr/>
          <p:nvPr/>
        </p:nvSpPr>
        <p:spPr>
          <a:xfrm>
            <a:off x="640080" y="621792"/>
            <a:ext cx="10911535" cy="457200"/>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The same pulse, with and without the sphere.</a:t>
            </a:r>
            <a:endParaRPr lang="en-US" sz="2800" dirty="0"/>
          </a:p>
        </p:txBody>
      </p:sp>
      <p:sp>
        <p:nvSpPr>
          <p:cNvPr id="5" name="Text 3"/>
          <p:cNvSpPr/>
          <p:nvPr/>
        </p:nvSpPr>
        <p:spPr>
          <a:xfrm>
            <a:off x="640080" y="1207008"/>
            <a:ext cx="10972800" cy="68580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The Gaussian is centered on the molecule’s bright root, fwidth 2.0. Parallel puts the field along the nanoparticle–molecule axis. Single is the empty cell. Back-propagation is on. The published curve is cross_section. No checkpoints.</a:t>
            </a:r>
            <a:endParaRPr lang="en-US" sz="1500" dirty="0"/>
          </a:p>
        </p:txBody>
      </p:sp>
      <p:sp>
        <p:nvSpPr>
          <p:cNvPr id="6" name="Shape 4"/>
          <p:cNvSpPr/>
          <p:nvPr/>
        </p:nvSpPr>
        <p:spPr>
          <a:xfrm>
            <a:off x="640080" y="2011680"/>
            <a:ext cx="2670048" cy="1280160"/>
          </a:xfrm>
          <a:prstGeom prst="rect">
            <a:avLst/>
          </a:prstGeom>
          <a:solidFill>
            <a:srgbClr val="F5EFE2"/>
          </a:solidFill>
          <a:ln w="9525">
            <a:solidFill>
              <a:srgbClr val="C9C4B4"/>
            </a:solidFill>
            <a:prstDash val="solid"/>
          </a:ln>
        </p:spPr>
      </p:sp>
      <p:sp>
        <p:nvSpPr>
          <p:cNvPr id="7" name="Text 5"/>
          <p:cNvSpPr/>
          <p:nvPr/>
        </p:nvSpPr>
        <p:spPr>
          <a:xfrm>
            <a:off x="786384" y="212140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G1</a:t>
            </a:r>
            <a:endParaRPr lang="en-US" sz="1800" dirty="0"/>
          </a:p>
        </p:txBody>
      </p:sp>
      <p:sp>
        <p:nvSpPr>
          <p:cNvPr id="8" name="Text 6"/>
          <p:cNvSpPr/>
          <p:nvPr/>
        </p:nvSpPr>
        <p:spPr>
          <a:xfrm>
            <a:off x="786384" y="246888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neutral   ·   no sphere</a:t>
            </a:r>
            <a:endParaRPr lang="en-US" sz="1300" dirty="0"/>
          </a:p>
        </p:txBody>
      </p:sp>
      <p:sp>
        <p:nvSpPr>
          <p:cNvPr id="9" name="Text 7"/>
          <p:cNvSpPr/>
          <p:nvPr/>
        </p:nvSpPr>
        <p:spPr>
          <a:xfrm>
            <a:off x="786384" y="277977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no CAP</a:t>
            </a:r>
            <a:endParaRPr lang="en-US" sz="1300" dirty="0"/>
          </a:p>
        </p:txBody>
      </p:sp>
      <p:sp>
        <p:nvSpPr>
          <p:cNvPr id="10" name="Shape 8"/>
          <p:cNvSpPr/>
          <p:nvPr/>
        </p:nvSpPr>
        <p:spPr>
          <a:xfrm>
            <a:off x="3429000" y="2011680"/>
            <a:ext cx="2670048" cy="1280160"/>
          </a:xfrm>
          <a:prstGeom prst="rect">
            <a:avLst/>
          </a:prstGeom>
          <a:solidFill>
            <a:srgbClr val="F5EFE2"/>
          </a:solidFill>
          <a:ln w="9525">
            <a:solidFill>
              <a:srgbClr val="C9C4B4"/>
            </a:solidFill>
            <a:prstDash val="solid"/>
          </a:ln>
        </p:spPr>
      </p:sp>
      <p:sp>
        <p:nvSpPr>
          <p:cNvPr id="11" name="Text 9"/>
          <p:cNvSpPr/>
          <p:nvPr/>
        </p:nvSpPr>
        <p:spPr>
          <a:xfrm>
            <a:off x="3575304" y="212140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G2</a:t>
            </a:r>
            <a:endParaRPr lang="en-US" sz="1800" dirty="0"/>
          </a:p>
        </p:txBody>
      </p:sp>
      <p:sp>
        <p:nvSpPr>
          <p:cNvPr id="12" name="Text 10"/>
          <p:cNvSpPr/>
          <p:nvPr/>
        </p:nvSpPr>
        <p:spPr>
          <a:xfrm>
            <a:off x="3575304" y="246888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DCH   ·   no sphere</a:t>
            </a:r>
            <a:endParaRPr lang="en-US" sz="1300" dirty="0"/>
          </a:p>
        </p:txBody>
      </p:sp>
      <p:sp>
        <p:nvSpPr>
          <p:cNvPr id="13" name="Text 11"/>
          <p:cNvSpPr/>
          <p:nvPr/>
        </p:nvSpPr>
        <p:spPr>
          <a:xfrm>
            <a:off x="3575304" y="277977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no CAP</a:t>
            </a:r>
            <a:endParaRPr lang="en-US" sz="1300" dirty="0"/>
          </a:p>
        </p:txBody>
      </p:sp>
      <p:sp>
        <p:nvSpPr>
          <p:cNvPr id="14" name="Shape 12"/>
          <p:cNvSpPr/>
          <p:nvPr/>
        </p:nvSpPr>
        <p:spPr>
          <a:xfrm>
            <a:off x="6217920" y="2011680"/>
            <a:ext cx="2670048" cy="1280160"/>
          </a:xfrm>
          <a:prstGeom prst="rect">
            <a:avLst/>
          </a:prstGeom>
          <a:solidFill>
            <a:srgbClr val="F5EFE2"/>
          </a:solidFill>
          <a:ln w="9525">
            <a:solidFill>
              <a:srgbClr val="C9C4B4"/>
            </a:solidFill>
            <a:prstDash val="solid"/>
          </a:ln>
        </p:spPr>
      </p:sp>
      <p:sp>
        <p:nvSpPr>
          <p:cNvPr id="15" name="Text 13"/>
          <p:cNvSpPr/>
          <p:nvPr/>
        </p:nvSpPr>
        <p:spPr>
          <a:xfrm>
            <a:off x="6364224" y="212140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G3</a:t>
            </a:r>
            <a:endParaRPr lang="en-US" sz="1800" dirty="0"/>
          </a:p>
        </p:txBody>
      </p:sp>
      <p:sp>
        <p:nvSpPr>
          <p:cNvPr id="16" name="Text 14"/>
          <p:cNvSpPr/>
          <p:nvPr/>
        </p:nvSpPr>
        <p:spPr>
          <a:xfrm>
            <a:off x="6364224" y="246888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neutral   ·   sphere</a:t>
            </a:r>
            <a:endParaRPr lang="en-US" sz="1300" dirty="0"/>
          </a:p>
        </p:txBody>
      </p:sp>
      <p:sp>
        <p:nvSpPr>
          <p:cNvPr id="17" name="Text 15"/>
          <p:cNvSpPr/>
          <p:nvPr/>
        </p:nvSpPr>
        <p:spPr>
          <a:xfrm>
            <a:off x="6364224" y="277977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no CAP</a:t>
            </a:r>
            <a:endParaRPr lang="en-US" sz="1300" dirty="0"/>
          </a:p>
        </p:txBody>
      </p:sp>
      <p:sp>
        <p:nvSpPr>
          <p:cNvPr id="18" name="Shape 16"/>
          <p:cNvSpPr/>
          <p:nvPr/>
        </p:nvSpPr>
        <p:spPr>
          <a:xfrm>
            <a:off x="9006840" y="2011680"/>
            <a:ext cx="2670048" cy="1280160"/>
          </a:xfrm>
          <a:prstGeom prst="rect">
            <a:avLst/>
          </a:prstGeom>
          <a:solidFill>
            <a:srgbClr val="F5EFE2"/>
          </a:solidFill>
          <a:ln w="9525">
            <a:solidFill>
              <a:srgbClr val="C9C4B4"/>
            </a:solidFill>
            <a:prstDash val="solid"/>
          </a:ln>
        </p:spPr>
      </p:sp>
      <p:sp>
        <p:nvSpPr>
          <p:cNvPr id="19" name="Text 17"/>
          <p:cNvSpPr/>
          <p:nvPr/>
        </p:nvSpPr>
        <p:spPr>
          <a:xfrm>
            <a:off x="9153144" y="212140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G4</a:t>
            </a:r>
            <a:endParaRPr lang="en-US" sz="1800" dirty="0"/>
          </a:p>
        </p:txBody>
      </p:sp>
      <p:sp>
        <p:nvSpPr>
          <p:cNvPr id="20" name="Text 18"/>
          <p:cNvSpPr/>
          <p:nvPr/>
        </p:nvSpPr>
        <p:spPr>
          <a:xfrm>
            <a:off x="9153144" y="246888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DCH   ·   sphere</a:t>
            </a:r>
            <a:endParaRPr lang="en-US" sz="1300" dirty="0"/>
          </a:p>
        </p:txBody>
      </p:sp>
      <p:sp>
        <p:nvSpPr>
          <p:cNvPr id="21" name="Text 19"/>
          <p:cNvSpPr/>
          <p:nvPr/>
        </p:nvSpPr>
        <p:spPr>
          <a:xfrm>
            <a:off x="9153144" y="277977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no CAP</a:t>
            </a:r>
            <a:endParaRPr lang="en-US" sz="1300" dirty="0"/>
          </a:p>
        </p:txBody>
      </p:sp>
      <p:sp>
        <p:nvSpPr>
          <p:cNvPr id="22" name="Shape 20"/>
          <p:cNvSpPr/>
          <p:nvPr/>
        </p:nvSpPr>
        <p:spPr>
          <a:xfrm>
            <a:off x="640080" y="3429000"/>
            <a:ext cx="2670048" cy="1280160"/>
          </a:xfrm>
          <a:prstGeom prst="rect">
            <a:avLst/>
          </a:prstGeom>
          <a:solidFill>
            <a:srgbClr val="EBE6D6"/>
          </a:solidFill>
          <a:ln w="9525">
            <a:solidFill>
              <a:srgbClr val="C9C4B4"/>
            </a:solidFill>
            <a:prstDash val="solid"/>
          </a:ln>
        </p:spPr>
      </p:sp>
      <p:sp>
        <p:nvSpPr>
          <p:cNvPr id="23" name="Text 21"/>
          <p:cNvSpPr/>
          <p:nvPr/>
        </p:nvSpPr>
        <p:spPr>
          <a:xfrm>
            <a:off x="786384" y="353872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G5</a:t>
            </a:r>
            <a:endParaRPr lang="en-US" sz="1800" dirty="0"/>
          </a:p>
        </p:txBody>
      </p:sp>
      <p:sp>
        <p:nvSpPr>
          <p:cNvPr id="24" name="Text 22"/>
          <p:cNvSpPr/>
          <p:nvPr/>
        </p:nvSpPr>
        <p:spPr>
          <a:xfrm>
            <a:off x="786384" y="388620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neutral   ·   no sphere</a:t>
            </a:r>
            <a:endParaRPr lang="en-US" sz="1300" dirty="0"/>
          </a:p>
        </p:txBody>
      </p:sp>
      <p:sp>
        <p:nvSpPr>
          <p:cNvPr id="25" name="Text 23"/>
          <p:cNvSpPr/>
          <p:nvPr/>
        </p:nvSpPr>
        <p:spPr>
          <a:xfrm>
            <a:off x="786384" y="419709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CAP</a:t>
            </a:r>
            <a:endParaRPr lang="en-US" sz="1300" dirty="0"/>
          </a:p>
        </p:txBody>
      </p:sp>
      <p:sp>
        <p:nvSpPr>
          <p:cNvPr id="26" name="Shape 24"/>
          <p:cNvSpPr/>
          <p:nvPr/>
        </p:nvSpPr>
        <p:spPr>
          <a:xfrm>
            <a:off x="3429000" y="3429000"/>
            <a:ext cx="2670048" cy="1280160"/>
          </a:xfrm>
          <a:prstGeom prst="rect">
            <a:avLst/>
          </a:prstGeom>
          <a:solidFill>
            <a:srgbClr val="EBE6D6"/>
          </a:solidFill>
          <a:ln w="9525">
            <a:solidFill>
              <a:srgbClr val="C9C4B4"/>
            </a:solidFill>
            <a:prstDash val="solid"/>
          </a:ln>
        </p:spPr>
      </p:sp>
      <p:sp>
        <p:nvSpPr>
          <p:cNvPr id="27" name="Text 25"/>
          <p:cNvSpPr/>
          <p:nvPr/>
        </p:nvSpPr>
        <p:spPr>
          <a:xfrm>
            <a:off x="3575304" y="353872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G6</a:t>
            </a:r>
            <a:endParaRPr lang="en-US" sz="1800" dirty="0"/>
          </a:p>
        </p:txBody>
      </p:sp>
      <p:sp>
        <p:nvSpPr>
          <p:cNvPr id="28" name="Text 26"/>
          <p:cNvSpPr/>
          <p:nvPr/>
        </p:nvSpPr>
        <p:spPr>
          <a:xfrm>
            <a:off x="3575304" y="388620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DCH   ·   no sphere</a:t>
            </a:r>
            <a:endParaRPr lang="en-US" sz="1300" dirty="0"/>
          </a:p>
        </p:txBody>
      </p:sp>
      <p:sp>
        <p:nvSpPr>
          <p:cNvPr id="29" name="Text 27"/>
          <p:cNvSpPr/>
          <p:nvPr/>
        </p:nvSpPr>
        <p:spPr>
          <a:xfrm>
            <a:off x="3575304" y="419709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CAP</a:t>
            </a:r>
            <a:endParaRPr lang="en-US" sz="1300" dirty="0"/>
          </a:p>
        </p:txBody>
      </p:sp>
      <p:sp>
        <p:nvSpPr>
          <p:cNvPr id="30" name="Shape 28"/>
          <p:cNvSpPr/>
          <p:nvPr/>
        </p:nvSpPr>
        <p:spPr>
          <a:xfrm>
            <a:off x="6217920" y="3429000"/>
            <a:ext cx="2670048" cy="1280160"/>
          </a:xfrm>
          <a:prstGeom prst="rect">
            <a:avLst/>
          </a:prstGeom>
          <a:solidFill>
            <a:srgbClr val="EBE6D6"/>
          </a:solidFill>
          <a:ln w="9525">
            <a:solidFill>
              <a:srgbClr val="C9C4B4"/>
            </a:solidFill>
            <a:prstDash val="solid"/>
          </a:ln>
        </p:spPr>
      </p:sp>
      <p:sp>
        <p:nvSpPr>
          <p:cNvPr id="31" name="Text 29"/>
          <p:cNvSpPr/>
          <p:nvPr/>
        </p:nvSpPr>
        <p:spPr>
          <a:xfrm>
            <a:off x="6364224" y="353872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G7</a:t>
            </a:r>
            <a:endParaRPr lang="en-US" sz="1800" dirty="0"/>
          </a:p>
        </p:txBody>
      </p:sp>
      <p:sp>
        <p:nvSpPr>
          <p:cNvPr id="32" name="Text 30"/>
          <p:cNvSpPr/>
          <p:nvPr/>
        </p:nvSpPr>
        <p:spPr>
          <a:xfrm>
            <a:off x="6364224" y="388620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neutral   ·   sphere</a:t>
            </a:r>
            <a:endParaRPr lang="en-US" sz="1300" dirty="0"/>
          </a:p>
        </p:txBody>
      </p:sp>
      <p:sp>
        <p:nvSpPr>
          <p:cNvPr id="33" name="Text 31"/>
          <p:cNvSpPr/>
          <p:nvPr/>
        </p:nvSpPr>
        <p:spPr>
          <a:xfrm>
            <a:off x="6364224" y="419709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CAP</a:t>
            </a:r>
            <a:endParaRPr lang="en-US" sz="1300" dirty="0"/>
          </a:p>
        </p:txBody>
      </p:sp>
      <p:sp>
        <p:nvSpPr>
          <p:cNvPr id="34" name="Shape 32"/>
          <p:cNvSpPr/>
          <p:nvPr/>
        </p:nvSpPr>
        <p:spPr>
          <a:xfrm>
            <a:off x="9006840" y="3429000"/>
            <a:ext cx="2670048" cy="1280160"/>
          </a:xfrm>
          <a:prstGeom prst="rect">
            <a:avLst/>
          </a:prstGeom>
          <a:solidFill>
            <a:srgbClr val="EBE6D6"/>
          </a:solidFill>
          <a:ln w="9525">
            <a:solidFill>
              <a:srgbClr val="C9C4B4"/>
            </a:solidFill>
            <a:prstDash val="solid"/>
          </a:ln>
        </p:spPr>
      </p:sp>
      <p:sp>
        <p:nvSpPr>
          <p:cNvPr id="35" name="Text 33"/>
          <p:cNvSpPr/>
          <p:nvPr/>
        </p:nvSpPr>
        <p:spPr>
          <a:xfrm>
            <a:off x="9153144" y="3538728"/>
            <a:ext cx="2377440" cy="310896"/>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G8</a:t>
            </a:r>
            <a:endParaRPr lang="en-US" sz="1800" dirty="0"/>
          </a:p>
        </p:txBody>
      </p:sp>
      <p:sp>
        <p:nvSpPr>
          <p:cNvPr id="36" name="Text 34"/>
          <p:cNvSpPr/>
          <p:nvPr/>
        </p:nvSpPr>
        <p:spPr>
          <a:xfrm>
            <a:off x="9153144" y="3886200"/>
            <a:ext cx="2377440" cy="274320"/>
          </a:xfrm>
          <a:prstGeom prst="rect">
            <a:avLst/>
          </a:prstGeom>
          <a:noFill/>
          <a:ln/>
        </p:spPr>
        <p:txBody>
          <a:bodyPr wrap="square" lIns="0" tIns="0" rIns="0" bIns="0" rtlCol="0" anchor="ctr"/>
          <a:lstStyle/>
          <a:p>
            <a:pPr indent="0" marL="0">
              <a:buNone/>
            </a:pPr>
            <a:r>
              <a:rPr lang="en-US" sz="1300" dirty="0">
                <a:solidFill>
                  <a:srgbClr val="1B2420"/>
                </a:solidFill>
                <a:latin typeface="Arial" pitchFamily="34" charset="0"/>
                <a:ea typeface="Arial" pitchFamily="34" charset="-122"/>
                <a:cs typeface="Arial" pitchFamily="34" charset="-120"/>
              </a:rPr>
              <a:t>DCH   ·   sphere</a:t>
            </a:r>
            <a:endParaRPr lang="en-US" sz="1300" dirty="0"/>
          </a:p>
        </p:txBody>
      </p:sp>
      <p:sp>
        <p:nvSpPr>
          <p:cNvPr id="37" name="Text 35"/>
          <p:cNvSpPr/>
          <p:nvPr/>
        </p:nvSpPr>
        <p:spPr>
          <a:xfrm>
            <a:off x="9153144" y="4197096"/>
            <a:ext cx="2377440" cy="292608"/>
          </a:xfrm>
          <a:prstGeom prst="rect">
            <a:avLst/>
          </a:prstGeom>
          <a:noFill/>
          <a:ln/>
        </p:spPr>
        <p:txBody>
          <a:bodyPr wrap="square" lIns="0" tIns="0" rIns="0" bIns="0" rtlCol="0" anchor="ctr"/>
          <a:lstStyle/>
          <a:p>
            <a:pPr indent="0" marL="0">
              <a:buNone/>
            </a:pPr>
            <a:r>
              <a:rPr lang="en-US" sz="1300" dirty="0">
                <a:solidFill>
                  <a:srgbClr val="3B3F3A"/>
                </a:solidFill>
                <a:latin typeface="Arial" pitchFamily="34" charset="0"/>
                <a:ea typeface="Arial" pitchFamily="34" charset="-122"/>
                <a:cs typeface="Arial" pitchFamily="34" charset="-120"/>
              </a:rPr>
              <a:t>CAP</a:t>
            </a:r>
            <a:endParaRPr lang="en-US" sz="1300" dirty="0"/>
          </a:p>
        </p:txBody>
      </p:sp>
      <p:sp>
        <p:nvSpPr>
          <p:cNvPr id="38" name="Text 36"/>
          <p:cNvSpPr/>
          <p:nvPr/>
        </p:nvSpPr>
        <p:spPr>
          <a:xfrm>
            <a:off x="640080" y="5029200"/>
            <a:ext cx="10972800" cy="128016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Run G1–G4 first. G4 − G2 is the sphere at fixed DCH. G2 − G1 is the hole with no sphere. G8 − G4 is the CAP on the production hybrid. The empty cell is not a substitute for Step 4.</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DFC8"/>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AFTER G4 MOVES</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11  /  13</a:t>
            </a:r>
            <a:endParaRPr lang="en-US" sz="1100" dirty="0"/>
          </a:p>
        </p:txBody>
      </p:sp>
      <p:sp>
        <p:nvSpPr>
          <p:cNvPr id="4" name="Text 2"/>
          <p:cNvSpPr/>
          <p:nvPr/>
        </p:nvSpPr>
        <p:spPr>
          <a:xfrm>
            <a:off x="640080" y="621792"/>
            <a:ext cx="10911535" cy="502920"/>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Two controls at 0.015 μm, then the gap.</a:t>
            </a:r>
            <a:endParaRPr lang="en-US" sz="2800" dirty="0"/>
          </a:p>
        </p:txBody>
      </p:sp>
      <p:sp>
        <p:nvSpPr>
          <p:cNvPr id="5" name="Shape 3"/>
          <p:cNvSpPr/>
          <p:nvPr/>
        </p:nvSpPr>
        <p:spPr>
          <a:xfrm>
            <a:off x="640080" y="1371600"/>
            <a:ext cx="5349240" cy="4846320"/>
          </a:xfrm>
          <a:prstGeom prst="rect">
            <a:avLst/>
          </a:prstGeom>
          <a:solidFill>
            <a:srgbClr val="F5EFE2"/>
          </a:solidFill>
          <a:ln w="9525">
            <a:solidFill>
              <a:srgbClr val="C9C4B4"/>
            </a:solidFill>
            <a:prstDash val="solid"/>
          </a:ln>
        </p:spPr>
      </p:sp>
      <p:sp>
        <p:nvSpPr>
          <p:cNvPr id="6" name="Text 4"/>
          <p:cNvSpPr/>
          <p:nvPr/>
        </p:nvSpPr>
        <p:spPr>
          <a:xfrm>
            <a:off x="868680" y="1554480"/>
            <a:ext cx="4846320" cy="237744"/>
          </a:xfrm>
          <a:prstGeom prst="rect">
            <a:avLst/>
          </a:prstGeom>
          <a:noFill/>
          <a:ln/>
        </p:spPr>
        <p:txBody>
          <a:bodyPr wrap="square" lIns="0" tIns="0" rIns="0" bIns="0" rtlCol="0" anchor="ctr"/>
          <a:lstStyle/>
          <a:p>
            <a:pPr indent="0" marL="0">
              <a:buNone/>
            </a:pPr>
            <a:r>
              <a:rPr lang="en-US" sz="1200" spc="130" kern="0" dirty="0">
                <a:solidFill>
                  <a:srgbClr val="C26A33"/>
                </a:solidFill>
                <a:latin typeface="Arial" pitchFamily="34" charset="0"/>
                <a:ea typeface="Arial" pitchFamily="34" charset="-122"/>
                <a:cs typeface="Arial" pitchFamily="34" charset="-120"/>
              </a:rPr>
              <a:t>STEP 6</a:t>
            </a:r>
            <a:endParaRPr lang="en-US" sz="1200" dirty="0"/>
          </a:p>
        </p:txBody>
      </p:sp>
      <p:sp>
        <p:nvSpPr>
          <p:cNvPr id="7" name="Text 5"/>
          <p:cNvSpPr/>
          <p:nvPr/>
        </p:nvSpPr>
        <p:spPr>
          <a:xfrm>
            <a:off x="868680" y="1874520"/>
            <a:ext cx="4846320" cy="640080"/>
          </a:xfrm>
          <a:prstGeom prst="rect">
            <a:avLst/>
          </a:prstGeom>
          <a:noFill/>
          <a:ln/>
        </p:spPr>
        <p:txBody>
          <a:bodyPr wrap="square" lIns="0" tIns="0" rIns="0" bIns="0" rtlCol="0" anchor="ctr"/>
          <a:lstStyle/>
          <a:p>
            <a:pPr indent="0" marL="0">
              <a:buNone/>
            </a:pPr>
            <a:r>
              <a:rPr lang="en-US" sz="2200" dirty="0">
                <a:solidFill>
                  <a:srgbClr val="1B2420"/>
                </a:solidFill>
                <a:latin typeface="Georgia" pitchFamily="34" charset="0"/>
                <a:ea typeface="Georgia" pitchFamily="34" charset="-122"/>
                <a:cs typeface="Georgia" pitchFamily="34" charset="-120"/>
              </a:rPr>
              <a:t>Only after resonant G4 moves.</a:t>
            </a:r>
            <a:endParaRPr lang="en-US" sz="2200" dirty="0"/>
          </a:p>
        </p:txBody>
      </p:sp>
      <p:sp>
        <p:nvSpPr>
          <p:cNvPr id="8" name="Text 6"/>
          <p:cNvSpPr/>
          <p:nvPr/>
        </p:nvSpPr>
        <p:spPr>
          <a:xfrm>
            <a:off x="868680" y="2651760"/>
            <a:ext cx="4846320" cy="68580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G4 perpendicular</a:t>
            </a:r>
            <a:endParaRPr lang="en-US" sz="1500" dirty="0"/>
          </a:p>
          <a:p>
            <a:pPr indent="0" marL="0">
              <a:buNone/>
            </a:pPr>
            <a:r>
              <a:rPr lang="en-US" sz="1500" dirty="0">
                <a:solidFill>
                  <a:srgbClr val="3B3F3A"/>
                </a:solidFill>
                <a:latin typeface="Arial" pitchFamily="34" charset="0"/>
                <a:ea typeface="Arial" pitchFamily="34" charset="-122"/>
                <a:cs typeface="Arial" pitchFamily="34" charset="-120"/>
              </a:rPr>
              <a:t>Polarization perpendicular instead of parallel.</a:t>
            </a:r>
            <a:endParaRPr lang="en-US" sz="1500" dirty="0"/>
          </a:p>
        </p:txBody>
      </p:sp>
      <p:sp>
        <p:nvSpPr>
          <p:cNvPr id="9" name="Text 7"/>
          <p:cNvSpPr/>
          <p:nvPr/>
        </p:nvSpPr>
        <p:spPr>
          <a:xfrm>
            <a:off x="868680" y="3429000"/>
            <a:ext cx="4846320" cy="73152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G4, no back-propagation</a:t>
            </a:r>
            <a:endParaRPr lang="en-US" sz="1500" dirty="0"/>
          </a:p>
          <a:p>
            <a:pPr indent="0" marL="0">
              <a:buNone/>
            </a:pPr>
            <a:r>
              <a:rPr lang="en-US" sz="1500" dirty="0">
                <a:solidFill>
                  <a:srgbClr val="3B3F3A"/>
                </a:solidFill>
                <a:latin typeface="Arial" pitchFamily="34" charset="0"/>
                <a:ea typeface="Arial" pitchFamily="34" charset="-122"/>
                <a:cs typeface="Arial" pitchFamily="34" charset="-120"/>
              </a:rPr>
              <a:t>The molecule feels the cell and does not source it.</a:t>
            </a:r>
            <a:endParaRPr lang="en-US" sz="1500" dirty="0"/>
          </a:p>
        </p:txBody>
      </p:sp>
      <p:sp>
        <p:nvSpPr>
          <p:cNvPr id="10" name="Text 8"/>
          <p:cNvSpPr/>
          <p:nvPr/>
        </p:nvSpPr>
        <p:spPr>
          <a:xfrm>
            <a:off x="868680" y="4434840"/>
            <a:ext cx="4846320" cy="137160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One of each is enough. Do not repeat them across CAP, DCH, or the Step 7 gaps until this G4 has moved.</a:t>
            </a:r>
            <a:endParaRPr lang="en-US" sz="1500" dirty="0"/>
          </a:p>
        </p:txBody>
      </p:sp>
      <p:sp>
        <p:nvSpPr>
          <p:cNvPr id="11" name="Shape 9"/>
          <p:cNvSpPr/>
          <p:nvPr/>
        </p:nvSpPr>
        <p:spPr>
          <a:xfrm>
            <a:off x="6217920" y="1371600"/>
            <a:ext cx="5349240" cy="4846320"/>
          </a:xfrm>
          <a:prstGeom prst="rect">
            <a:avLst/>
          </a:prstGeom>
          <a:solidFill>
            <a:srgbClr val="1B2420"/>
          </a:solidFill>
          <a:ln/>
        </p:spPr>
      </p:sp>
      <p:sp>
        <p:nvSpPr>
          <p:cNvPr id="12" name="Text 10"/>
          <p:cNvSpPr/>
          <p:nvPr/>
        </p:nvSpPr>
        <p:spPr>
          <a:xfrm>
            <a:off x="6446520" y="1554480"/>
            <a:ext cx="4892040" cy="237744"/>
          </a:xfrm>
          <a:prstGeom prst="rect">
            <a:avLst/>
          </a:prstGeom>
          <a:noFill/>
          <a:ln/>
        </p:spPr>
        <p:txBody>
          <a:bodyPr wrap="square" lIns="0" tIns="0" rIns="0" bIns="0" rtlCol="0" anchor="ctr"/>
          <a:lstStyle/>
          <a:p>
            <a:pPr indent="0" marL="0">
              <a:buNone/>
            </a:pPr>
            <a:r>
              <a:rPr lang="en-US" sz="1200" spc="130" kern="0" dirty="0">
                <a:solidFill>
                  <a:srgbClr val="7A9A6A"/>
                </a:solidFill>
                <a:latin typeface="Arial" pitchFamily="34" charset="0"/>
                <a:ea typeface="Arial" pitchFamily="34" charset="-122"/>
                <a:cs typeface="Arial" pitchFamily="34" charset="-120"/>
              </a:rPr>
              <a:t>STEP 7</a:t>
            </a:r>
            <a:endParaRPr lang="en-US" sz="1200" dirty="0"/>
          </a:p>
        </p:txBody>
      </p:sp>
      <p:sp>
        <p:nvSpPr>
          <p:cNvPr id="13" name="Text 11"/>
          <p:cNvSpPr/>
          <p:nvPr/>
        </p:nvSpPr>
        <p:spPr>
          <a:xfrm>
            <a:off x="6446520" y="1874520"/>
            <a:ext cx="4892040" cy="640080"/>
          </a:xfrm>
          <a:prstGeom prst="rect">
            <a:avLst/>
          </a:prstGeom>
          <a:noFill/>
          <a:ln/>
        </p:spPr>
        <p:txBody>
          <a:bodyPr wrap="square" lIns="0" tIns="0" rIns="0" bIns="0" rtlCol="0" anchor="ctr"/>
          <a:lstStyle/>
          <a:p>
            <a:pPr indent="0" marL="0">
              <a:buNone/>
            </a:pPr>
            <a:r>
              <a:rPr lang="en-US" sz="2200" dirty="0">
                <a:solidFill>
                  <a:srgbClr val="EFE9D9"/>
                </a:solidFill>
                <a:latin typeface="Georgia" pitchFamily="34" charset="0"/>
                <a:ea typeface="Georgia" pitchFamily="34" charset="-122"/>
                <a:cs typeface="Georgia" pitchFamily="34" charset="-120"/>
              </a:rPr>
              <a:t>Same pair. Three other gaps.</a:t>
            </a:r>
            <a:endParaRPr lang="en-US" sz="2200" dirty="0"/>
          </a:p>
        </p:txBody>
      </p:sp>
      <p:sp>
        <p:nvSpPr>
          <p:cNvPr id="14" name="Text 12"/>
          <p:cNvSpPr/>
          <p:nvPr/>
        </p:nvSpPr>
        <p:spPr>
          <a:xfrm>
            <a:off x="6446520" y="2651760"/>
            <a:ext cx="4892040" cy="960120"/>
          </a:xfrm>
          <a:prstGeom prst="rect">
            <a:avLst/>
          </a:prstGeom>
          <a:noFill/>
          <a:ln/>
        </p:spPr>
        <p:txBody>
          <a:bodyPr wrap="square" lIns="0" tIns="0" rIns="0" bIns="0" rtlCol="0" anchor="ctr"/>
          <a:lstStyle/>
          <a:p>
            <a:pPr indent="0" marL="0">
              <a:buNone/>
            </a:pPr>
            <a:r>
              <a:rPr lang="en-US" sz="1500" dirty="0">
                <a:solidFill>
                  <a:srgbClr val="EFE9D9"/>
                </a:solidFill>
                <a:latin typeface="Arial" pitchFamily="34" charset="0"/>
                <a:ea typeface="Arial" pitchFamily="34" charset="-122"/>
                <a:cs typeface="Arial" pitchFamily="34" charset="-120"/>
              </a:rPr>
              <a:t>0.005, 0.030, and 0.060 μm. The 0.015 μm baseline is not repeated. Each gap is D3, D4, and G4 only.</a:t>
            </a:r>
            <a:endParaRPr lang="en-US" sz="1500" dirty="0"/>
          </a:p>
        </p:txBody>
      </p:sp>
      <p:sp>
        <p:nvSpPr>
          <p:cNvPr id="15" name="Text 13"/>
          <p:cNvSpPr/>
          <p:nvPr/>
        </p:nvSpPr>
        <p:spPr>
          <a:xfrm>
            <a:off x="6446520" y="3703320"/>
            <a:ext cx="4892040" cy="1051560"/>
          </a:xfrm>
          <a:prstGeom prst="rect">
            <a:avLst/>
          </a:prstGeom>
          <a:noFill/>
          <a:ln/>
        </p:spPr>
        <p:txBody>
          <a:bodyPr wrap="square" lIns="0" tIns="0" rIns="0" bIns="0" rtlCol="0" anchor="ctr"/>
          <a:lstStyle/>
          <a:p>
            <a:pPr indent="0" marL="0">
              <a:buNone/>
            </a:pPr>
            <a:r>
              <a:rPr lang="en-US" sz="1500" dirty="0">
                <a:solidFill>
                  <a:srgbClr val="C9C4B4"/>
                </a:solidFill>
                <a:latin typeface="Arial" pitchFamily="34" charset="0"/>
                <a:ea typeface="Arial" pitchFamily="34" charset="-122"/>
                <a:cs typeface="Arial" pitchFamily="34" charset="-120"/>
              </a:rPr>
              <a:t>Compare D3 − D1 and G4 − G2 with the baseline. If the gap changes D3 and G4 but not D4, the distance dependence is the field coming back.</a:t>
            </a:r>
            <a:endParaRPr lang="en-US" sz="1500" dirty="0"/>
          </a:p>
        </p:txBody>
      </p:sp>
      <p:sp>
        <p:nvSpPr>
          <p:cNvPr id="16" name="Text 14"/>
          <p:cNvSpPr/>
          <p:nvPr/>
        </p:nvSpPr>
        <p:spPr>
          <a:xfrm>
            <a:off x="6446520" y="4892040"/>
            <a:ext cx="4892040" cy="960120"/>
          </a:xfrm>
          <a:prstGeom prst="rect">
            <a:avLst/>
          </a:prstGeom>
          <a:noFill/>
          <a:ln/>
        </p:spPr>
        <p:txBody>
          <a:bodyPr wrap="square" lIns="0" tIns="0" rIns="0" bIns="0" rtlCol="0" anchor="ctr"/>
          <a:lstStyle/>
          <a:p>
            <a:pPr indent="0" marL="0">
              <a:buNone/>
            </a:pPr>
            <a:r>
              <a:rPr lang="en-US" sz="1500" dirty="0">
                <a:solidFill>
                  <a:srgbClr val="C9C4B4"/>
                </a:solidFill>
                <a:latin typeface="Arial" pitchFamily="34" charset="0"/>
                <a:ea typeface="Arial" pitchFamily="34" charset="-122"/>
                <a:cs typeface="Arial" pitchFamily="34" charset="-120"/>
              </a:rPr>
              <a:t>Molecule x is the radius plus that gap, not the baseline x. Widen the cell if the farther gap no longer fits.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STEP 8   ·   OFF RESONANCE</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12  /  13</a:t>
            </a:r>
            <a:endParaRPr lang="en-US" sz="1100" dirty="0"/>
          </a:p>
        </p:txBody>
      </p:sp>
      <p:sp>
        <p:nvSpPr>
          <p:cNvPr id="4" name="Text 2"/>
          <p:cNvSpPr/>
          <p:nvPr/>
        </p:nvSpPr>
        <p:spPr>
          <a:xfrm>
            <a:off x="640080" y="640080"/>
            <a:ext cx="10911535" cy="548640"/>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The same question, where the plasmon misses the root.</a:t>
            </a:r>
            <a:endParaRPr lang="en-US" sz="2800" dirty="0"/>
          </a:p>
        </p:txBody>
      </p:sp>
      <p:sp>
        <p:nvSpPr>
          <p:cNvPr id="5" name="Text 3"/>
          <p:cNvSpPr/>
          <p:nvPr/>
        </p:nvSpPr>
        <p:spPr>
          <a:xfrm>
            <a:off x="640080" y="1371600"/>
            <a:ext cx="10972800" cy="502920"/>
          </a:xfrm>
          <a:prstGeom prst="rect">
            <a:avLst/>
          </a:prstGeom>
          <a:noFill/>
          <a:ln/>
        </p:spPr>
        <p:txBody>
          <a:bodyPr wrap="square" lIns="0" tIns="0" rIns="0" bIns="0" rtlCol="0" anchor="ctr"/>
          <a:lstStyle/>
          <a:p>
            <a:pPr indent="0" marL="0">
              <a:buNone/>
            </a:pPr>
            <a:r>
              <a:rPr lang="en-US" sz="1600" dirty="0">
                <a:solidFill>
                  <a:srgbClr val="3B3F3A"/>
                </a:solidFill>
                <a:latin typeface="Arial" pitchFamily="34" charset="0"/>
                <a:ea typeface="Arial" pitchFamily="34" charset="-122"/>
                <a:cs typeface="Arial" pitchFamily="34" charset="-120"/>
              </a:rPr>
              <a:t>The Gaussian stays on the molecule’s bright root. The gap stays 0.015 μm. This comparison is resonance, not distance.</a:t>
            </a:r>
            <a:endParaRPr lang="en-US" sz="1600" dirty="0"/>
          </a:p>
        </p:txBody>
      </p:sp>
      <p:sp>
        <p:nvSpPr>
          <p:cNvPr id="6" name="Shape 4"/>
          <p:cNvSpPr/>
          <p:nvPr/>
        </p:nvSpPr>
        <p:spPr>
          <a:xfrm>
            <a:off x="640080" y="2057400"/>
            <a:ext cx="5440680" cy="1261872"/>
          </a:xfrm>
          <a:prstGeom prst="rect">
            <a:avLst/>
          </a:prstGeom>
          <a:solidFill>
            <a:srgbClr val="F5EFE2"/>
          </a:solidFill>
          <a:ln w="9525">
            <a:solidFill>
              <a:srgbClr val="C9C4B4"/>
            </a:solidFill>
            <a:prstDash val="solid"/>
          </a:ln>
        </p:spPr>
      </p:sp>
      <p:sp>
        <p:nvSpPr>
          <p:cNvPr id="7" name="Text 5"/>
          <p:cNvSpPr/>
          <p:nvPr/>
        </p:nvSpPr>
        <p:spPr>
          <a:xfrm>
            <a:off x="859536" y="2203704"/>
            <a:ext cx="4983480" cy="347472"/>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Survey</a:t>
            </a:r>
            <a:endParaRPr lang="en-US" sz="1800" dirty="0"/>
          </a:p>
        </p:txBody>
      </p:sp>
      <p:sp>
        <p:nvSpPr>
          <p:cNvPr id="8" name="Text 6"/>
          <p:cNvSpPr/>
          <p:nvPr/>
        </p:nvSpPr>
        <p:spPr>
          <a:xfrm>
            <a:off x="859536" y="2624328"/>
            <a:ext cx="4983480" cy="50292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The core index belongs to this molecule.</a:t>
            </a:r>
            <a:endParaRPr lang="en-US" sz="1500" dirty="0"/>
          </a:p>
        </p:txBody>
      </p:sp>
      <p:sp>
        <p:nvSpPr>
          <p:cNvPr id="9" name="Shape 7"/>
          <p:cNvSpPr/>
          <p:nvPr/>
        </p:nvSpPr>
        <p:spPr>
          <a:xfrm>
            <a:off x="6263640" y="2057400"/>
            <a:ext cx="5440680" cy="1261872"/>
          </a:xfrm>
          <a:prstGeom prst="rect">
            <a:avLst/>
          </a:prstGeom>
          <a:solidFill>
            <a:srgbClr val="F5EFE2"/>
          </a:solidFill>
          <a:ln w="9525">
            <a:solidFill>
              <a:srgbClr val="C9C4B4"/>
            </a:solidFill>
            <a:prstDash val="solid"/>
          </a:ln>
        </p:spPr>
      </p:sp>
      <p:sp>
        <p:nvSpPr>
          <p:cNvPr id="10" name="Text 8"/>
          <p:cNvSpPr/>
          <p:nvPr/>
        </p:nvSpPr>
        <p:spPr>
          <a:xfrm>
            <a:off x="6483096" y="2203704"/>
            <a:ext cx="4983480" cy="347472"/>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D1, D3, D4</a:t>
            </a:r>
            <a:endParaRPr lang="en-US" sz="1800" dirty="0"/>
          </a:p>
        </p:txBody>
      </p:sp>
      <p:sp>
        <p:nvSpPr>
          <p:cNvPr id="11" name="Text 9"/>
          <p:cNvSpPr/>
          <p:nvPr/>
        </p:nvSpPr>
        <p:spPr>
          <a:xfrm>
            <a:off x="6483096" y="2624328"/>
            <a:ext cx="4983480" cy="50292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Free hole, then the sphere with and without radiation.</a:t>
            </a:r>
            <a:endParaRPr lang="en-US" sz="1500" dirty="0"/>
          </a:p>
        </p:txBody>
      </p:sp>
      <p:sp>
        <p:nvSpPr>
          <p:cNvPr id="12" name="Shape 10"/>
          <p:cNvSpPr/>
          <p:nvPr/>
        </p:nvSpPr>
        <p:spPr>
          <a:xfrm>
            <a:off x="640080" y="3474720"/>
            <a:ext cx="5440680" cy="1261872"/>
          </a:xfrm>
          <a:prstGeom prst="rect">
            <a:avLst/>
          </a:prstGeom>
          <a:solidFill>
            <a:srgbClr val="F5EFE2"/>
          </a:solidFill>
          <a:ln w="9525">
            <a:solidFill>
              <a:srgbClr val="C9C4B4"/>
            </a:solidFill>
            <a:prstDash val="solid"/>
          </a:ln>
        </p:spPr>
      </p:sp>
      <p:sp>
        <p:nvSpPr>
          <p:cNvPr id="13" name="Text 11"/>
          <p:cNvSpPr/>
          <p:nvPr/>
        </p:nvSpPr>
        <p:spPr>
          <a:xfrm>
            <a:off x="859536" y="3621024"/>
            <a:ext cx="4983480" cy="347472"/>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K1, K3</a:t>
            </a:r>
            <a:endParaRPr lang="en-US" sz="1800" dirty="0"/>
          </a:p>
        </p:txBody>
      </p:sp>
      <p:sp>
        <p:nvSpPr>
          <p:cNvPr id="14" name="Text 12"/>
          <p:cNvSpPr/>
          <p:nvPr/>
        </p:nvSpPr>
        <p:spPr>
          <a:xfrm>
            <a:off x="859536" y="4041648"/>
            <a:ext cx="4983480" cy="50292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Where the bright root is, before and after the sudden hole.</a:t>
            </a:r>
            <a:endParaRPr lang="en-US" sz="1500" dirty="0"/>
          </a:p>
        </p:txBody>
      </p:sp>
      <p:sp>
        <p:nvSpPr>
          <p:cNvPr id="15" name="Shape 13"/>
          <p:cNvSpPr/>
          <p:nvPr/>
        </p:nvSpPr>
        <p:spPr>
          <a:xfrm>
            <a:off x="6263640" y="3474720"/>
            <a:ext cx="5440680" cy="1261872"/>
          </a:xfrm>
          <a:prstGeom prst="rect">
            <a:avLst/>
          </a:prstGeom>
          <a:solidFill>
            <a:srgbClr val="F5EFE2"/>
          </a:solidFill>
          <a:ln w="9525">
            <a:solidFill>
              <a:srgbClr val="C9C4B4"/>
            </a:solidFill>
            <a:prstDash val="solid"/>
          </a:ln>
        </p:spPr>
      </p:sp>
      <p:sp>
        <p:nvSpPr>
          <p:cNvPr id="16" name="Text 14"/>
          <p:cNvSpPr/>
          <p:nvPr/>
        </p:nvSpPr>
        <p:spPr>
          <a:xfrm>
            <a:off x="6483096" y="3621024"/>
            <a:ext cx="4983480" cy="347472"/>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G1–G4</a:t>
            </a:r>
            <a:endParaRPr lang="en-US" sz="1800" dirty="0"/>
          </a:p>
        </p:txBody>
      </p:sp>
      <p:sp>
        <p:nvSpPr>
          <p:cNvPr id="17" name="Text 15"/>
          <p:cNvSpPr/>
          <p:nvPr/>
        </p:nvSpPr>
        <p:spPr>
          <a:xfrm>
            <a:off x="6483096" y="4041648"/>
            <a:ext cx="4983480" cy="50292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Cross section, ± DCH, ± nanoparticle, no CAP.</a:t>
            </a:r>
            <a:endParaRPr lang="en-US" sz="1500" dirty="0"/>
          </a:p>
        </p:txBody>
      </p:sp>
      <p:sp>
        <p:nvSpPr>
          <p:cNvPr id="18" name="Shape 16"/>
          <p:cNvSpPr/>
          <p:nvPr/>
        </p:nvSpPr>
        <p:spPr>
          <a:xfrm>
            <a:off x="640080" y="5074920"/>
            <a:ext cx="10911535" cy="1234440"/>
          </a:xfrm>
          <a:prstGeom prst="rect">
            <a:avLst/>
          </a:prstGeom>
          <a:solidFill>
            <a:srgbClr val="1B2420"/>
          </a:solidFill>
          <a:ln/>
        </p:spPr>
      </p:sp>
      <p:sp>
        <p:nvSpPr>
          <p:cNvPr id="19" name="Text 17"/>
          <p:cNvSpPr/>
          <p:nvPr/>
        </p:nvSpPr>
        <p:spPr>
          <a:xfrm>
            <a:off x="914400" y="5230368"/>
            <a:ext cx="10362895" cy="914400"/>
          </a:xfrm>
          <a:prstGeom prst="rect">
            <a:avLst/>
          </a:prstGeom>
          <a:noFill/>
          <a:ln/>
        </p:spPr>
        <p:txBody>
          <a:bodyPr wrap="square" lIns="0" tIns="0" rIns="0" bIns="0" rtlCol="0" anchor="ctr"/>
          <a:lstStyle/>
          <a:p>
            <a:pPr indent="0" marL="0">
              <a:buNone/>
            </a:pPr>
            <a:r>
              <a:rPr lang="en-US" sz="1600" i="1" dirty="0">
                <a:solidFill>
                  <a:srgbClr val="EFE9D9"/>
                </a:solidFill>
                <a:latin typeface="Georgia" pitchFamily="34" charset="0"/>
                <a:ea typeface="Georgia" pitchFamily="34" charset="-122"/>
                <a:cs typeface="Georgia" pitchFamily="34" charset="-120"/>
              </a:rPr>
              <a:t>Read D3 − D1 and G4 − G2 against the resonant pair. If the nanoparticle effect shrinks here, it was the shared resonance. The detuned tokens are a separate set.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92608"/>
            <a:ext cx="8412480" cy="256032"/>
          </a:xfrm>
          <a:prstGeom prst="rect">
            <a:avLst/>
          </a:prstGeom>
          <a:noFill/>
          <a:ln/>
        </p:spPr>
        <p:txBody>
          <a:bodyPr wrap="square" lIns="0" tIns="0" rIns="0" bIns="0" rtlCol="0" anchor="ctr"/>
          <a:lstStyle/>
          <a:p>
            <a:pPr indent="0" marL="0">
              <a:buNone/>
            </a:pPr>
            <a:r>
              <a:rPr lang="en-US" sz="1100" spc="220" kern="0" dirty="0">
                <a:solidFill>
                  <a:srgbClr val="7A7F76"/>
                </a:solidFill>
                <a:latin typeface="Arial" pitchFamily="34" charset="0"/>
                <a:ea typeface="Arial" pitchFamily="34" charset="-122"/>
                <a:cs typeface="Arial" pitchFamily="34" charset="-120"/>
              </a:rPr>
              <a:t>STILL OPEN</a:t>
            </a:r>
            <a:endParaRPr lang="en-US" sz="1100" dirty="0"/>
          </a:p>
        </p:txBody>
      </p:sp>
      <p:sp>
        <p:nvSpPr>
          <p:cNvPr id="3" name="Text 1"/>
          <p:cNvSpPr/>
          <p:nvPr/>
        </p:nvSpPr>
        <p:spPr>
          <a:xfrm>
            <a:off x="10088575" y="292608"/>
            <a:ext cx="1463040" cy="256032"/>
          </a:xfrm>
          <a:prstGeom prst="rect">
            <a:avLst/>
          </a:prstGeom>
          <a:noFill/>
          <a:ln/>
        </p:spPr>
        <p:txBody>
          <a:bodyPr wrap="square" lIns="0" tIns="0" rIns="0" bIns="0" rtlCol="0" anchor="ctr"/>
          <a:lstStyle/>
          <a:p>
            <a:pPr algn="r" indent="0" marL="0">
              <a:buNone/>
            </a:pPr>
            <a:r>
              <a:rPr lang="en-US" sz="1100" dirty="0">
                <a:solidFill>
                  <a:srgbClr val="7A7F76"/>
                </a:solidFill>
                <a:latin typeface="Arial" pitchFamily="34" charset="0"/>
                <a:ea typeface="Arial" pitchFamily="34" charset="-122"/>
                <a:cs typeface="Arial" pitchFamily="34" charset="-120"/>
              </a:rPr>
              <a:t>13  /  13</a:t>
            </a:r>
            <a:endParaRPr lang="en-US" sz="1100" dirty="0"/>
          </a:p>
        </p:txBody>
      </p:sp>
      <p:sp>
        <p:nvSpPr>
          <p:cNvPr id="4" name="Text 2"/>
          <p:cNvSpPr/>
          <p:nvPr/>
        </p:nvSpPr>
        <p:spPr>
          <a:xfrm>
            <a:off x="640080" y="640080"/>
            <a:ext cx="10911535" cy="502920"/>
          </a:xfrm>
          <a:prstGeom prst="rect">
            <a:avLst/>
          </a:prstGeom>
          <a:noFill/>
          <a:ln/>
        </p:spPr>
        <p:txBody>
          <a:bodyPr wrap="square" lIns="0" tIns="0" rIns="0" bIns="0" rtlCol="0" anchor="t"/>
          <a:lstStyle/>
          <a:p>
            <a:pPr indent="0" marL="0">
              <a:buNone/>
            </a:pPr>
            <a:r>
              <a:rPr lang="en-US" sz="2800" dirty="0">
                <a:solidFill>
                  <a:srgbClr val="1B2420"/>
                </a:solidFill>
                <a:latin typeface="Georgia" pitchFamily="34" charset="0"/>
                <a:ea typeface="Georgia" pitchFamily="34" charset="-122"/>
                <a:cs typeface="Georgia" pitchFamily="34" charset="-120"/>
              </a:rPr>
              <a:t>Nothing from Step 2 on should be launched yet.</a:t>
            </a:r>
            <a:endParaRPr lang="en-US" sz="2800" dirty="0"/>
          </a:p>
        </p:txBody>
      </p:sp>
      <p:sp>
        <p:nvSpPr>
          <p:cNvPr id="5" name="Text 3"/>
          <p:cNvSpPr/>
          <p:nvPr/>
        </p:nvSpPr>
        <p:spPr>
          <a:xfrm>
            <a:off x="640080" y="1417320"/>
            <a:ext cx="640080" cy="365760"/>
          </a:xfrm>
          <a:prstGeom prst="rect">
            <a:avLst/>
          </a:prstGeom>
          <a:noFill/>
          <a:ln/>
        </p:spPr>
        <p:txBody>
          <a:bodyPr wrap="square" lIns="0" tIns="0" rIns="0" bIns="0" rtlCol="0" anchor="ctr"/>
          <a:lstStyle/>
          <a:p>
            <a:pPr indent="0" marL="0">
              <a:buNone/>
            </a:pPr>
            <a:r>
              <a:rPr lang="en-US" sz="1800" dirty="0">
                <a:solidFill>
                  <a:srgbClr val="C26A33"/>
                </a:solidFill>
                <a:latin typeface="Georgia" pitchFamily="34" charset="0"/>
                <a:ea typeface="Georgia" pitchFamily="34" charset="-122"/>
                <a:cs typeface="Georgia" pitchFamily="34" charset="-120"/>
              </a:rPr>
              <a:t>01</a:t>
            </a:r>
            <a:endParaRPr lang="en-US" sz="1800" dirty="0"/>
          </a:p>
        </p:txBody>
      </p:sp>
      <p:sp>
        <p:nvSpPr>
          <p:cNvPr id="6" name="Text 4"/>
          <p:cNvSpPr/>
          <p:nvPr/>
        </p:nvSpPr>
        <p:spPr>
          <a:xfrm>
            <a:off x="1371600" y="1417320"/>
            <a:ext cx="4572000" cy="365760"/>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Choose both pairs</a:t>
            </a:r>
            <a:endParaRPr lang="en-US" sz="1800" dirty="0"/>
          </a:p>
        </p:txBody>
      </p:sp>
      <p:sp>
        <p:nvSpPr>
          <p:cNvPr id="7" name="Text 5"/>
          <p:cNvSpPr/>
          <p:nvPr/>
        </p:nvSpPr>
        <p:spPr>
          <a:xfrm>
            <a:off x="640080" y="1874520"/>
            <a:ext cx="5349240" cy="105156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A resonant pair, plasmon on the bright root. A detuned pair, plasmon off that root. Then replace every placeholder.</a:t>
            </a:r>
            <a:endParaRPr lang="en-US" sz="1500" dirty="0"/>
          </a:p>
        </p:txBody>
      </p:sp>
      <p:sp>
        <p:nvSpPr>
          <p:cNvPr id="8" name="Text 6"/>
          <p:cNvSpPr/>
          <p:nvPr/>
        </p:nvSpPr>
        <p:spPr>
          <a:xfrm>
            <a:off x="6263640" y="1417320"/>
            <a:ext cx="640080" cy="365760"/>
          </a:xfrm>
          <a:prstGeom prst="rect">
            <a:avLst/>
          </a:prstGeom>
          <a:noFill/>
          <a:ln/>
        </p:spPr>
        <p:txBody>
          <a:bodyPr wrap="square" lIns="0" tIns="0" rIns="0" bIns="0" rtlCol="0" anchor="ctr"/>
          <a:lstStyle/>
          <a:p>
            <a:pPr indent="0" marL="0">
              <a:buNone/>
            </a:pPr>
            <a:r>
              <a:rPr lang="en-US" sz="1800" dirty="0">
                <a:solidFill>
                  <a:srgbClr val="C26A33"/>
                </a:solidFill>
                <a:latin typeface="Georgia" pitchFamily="34" charset="0"/>
                <a:ea typeface="Georgia" pitchFamily="34" charset="-122"/>
                <a:cs typeface="Georgia" pitchFamily="34" charset="-120"/>
              </a:rPr>
              <a:t>02</a:t>
            </a:r>
            <a:endParaRPr lang="en-US" sz="1800" dirty="0"/>
          </a:p>
        </p:txBody>
      </p:sp>
      <p:sp>
        <p:nvSpPr>
          <p:cNvPr id="9" name="Text 7"/>
          <p:cNvSpPr/>
          <p:nvPr/>
        </p:nvSpPr>
        <p:spPr>
          <a:xfrm>
            <a:off x="6995160" y="1417320"/>
            <a:ext cx="4572000" cy="365760"/>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Survey, then the index</a:t>
            </a:r>
            <a:endParaRPr lang="en-US" sz="1800" dirty="0"/>
          </a:p>
        </p:txBody>
      </p:sp>
      <p:sp>
        <p:nvSpPr>
          <p:cNvPr id="10" name="Text 8"/>
          <p:cNvSpPr/>
          <p:nvPr/>
        </p:nvSpPr>
        <p:spPr>
          <a:xfrm>
            <a:off x="6263640" y="1874520"/>
            <a:ext cx="5349240" cy="105156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Write the core MO and the three frontier indices into the resonant DCH files. Do not reuse the thioindigo trial unless that molecule is selected.</a:t>
            </a:r>
            <a:endParaRPr lang="en-US" sz="1500" dirty="0"/>
          </a:p>
        </p:txBody>
      </p:sp>
      <p:sp>
        <p:nvSpPr>
          <p:cNvPr id="11" name="Text 9"/>
          <p:cNvSpPr/>
          <p:nvPr/>
        </p:nvSpPr>
        <p:spPr>
          <a:xfrm>
            <a:off x="640080" y="3383280"/>
            <a:ext cx="640080" cy="365760"/>
          </a:xfrm>
          <a:prstGeom prst="rect">
            <a:avLst/>
          </a:prstGeom>
          <a:noFill/>
          <a:ln/>
        </p:spPr>
        <p:txBody>
          <a:bodyPr wrap="square" lIns="0" tIns="0" rIns="0" bIns="0" rtlCol="0" anchor="ctr"/>
          <a:lstStyle/>
          <a:p>
            <a:pPr indent="0" marL="0">
              <a:buNone/>
            </a:pPr>
            <a:r>
              <a:rPr lang="en-US" sz="1800" dirty="0">
                <a:solidFill>
                  <a:srgbClr val="C26A33"/>
                </a:solidFill>
                <a:latin typeface="Georgia" pitchFamily="34" charset="0"/>
                <a:ea typeface="Georgia" pitchFamily="34" charset="-122"/>
                <a:cs typeface="Georgia" pitchFamily="34" charset="-120"/>
              </a:rPr>
              <a:t>03</a:t>
            </a:r>
            <a:endParaRPr lang="en-US" sz="1800" dirty="0"/>
          </a:p>
        </p:txBody>
      </p:sp>
      <p:sp>
        <p:nvSpPr>
          <p:cNvPr id="12" name="Text 10"/>
          <p:cNvSpPr/>
          <p:nvPr/>
        </p:nvSpPr>
        <p:spPr>
          <a:xfrm>
            <a:off x="1371600" y="3383280"/>
            <a:ext cx="4572000" cy="365760"/>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D1, then the rotation</a:t>
            </a:r>
            <a:endParaRPr lang="en-US" sz="1800" dirty="0"/>
          </a:p>
        </p:txBody>
      </p:sp>
      <p:sp>
        <p:nvSpPr>
          <p:cNvPr id="13" name="Text 11"/>
          <p:cNvSpPr/>
          <p:nvPr/>
        </p:nvSpPr>
        <p:spPr>
          <a:xfrm>
            <a:off x="640080" y="3840480"/>
            <a:ext cx="5349240" cy="105156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Paste the orientation that puts the moving core-hole dipole on +x into D3–D6 only. Leave D1 and D2 on the stock frame.</a:t>
            </a:r>
            <a:endParaRPr lang="en-US" sz="1500" dirty="0"/>
          </a:p>
        </p:txBody>
      </p:sp>
      <p:sp>
        <p:nvSpPr>
          <p:cNvPr id="14" name="Text 12"/>
          <p:cNvSpPr/>
          <p:nvPr/>
        </p:nvSpPr>
        <p:spPr>
          <a:xfrm>
            <a:off x="6263640" y="3383280"/>
            <a:ext cx="640080" cy="365760"/>
          </a:xfrm>
          <a:prstGeom prst="rect">
            <a:avLst/>
          </a:prstGeom>
          <a:noFill/>
          <a:ln/>
        </p:spPr>
        <p:txBody>
          <a:bodyPr wrap="square" lIns="0" tIns="0" rIns="0" bIns="0" rtlCol="0" anchor="ctr"/>
          <a:lstStyle/>
          <a:p>
            <a:pPr indent="0" marL="0">
              <a:buNone/>
            </a:pPr>
            <a:r>
              <a:rPr lang="en-US" sz="1800" dirty="0">
                <a:solidFill>
                  <a:srgbClr val="C26A33"/>
                </a:solidFill>
                <a:latin typeface="Georgia" pitchFamily="34" charset="0"/>
                <a:ea typeface="Georgia" pitchFamily="34" charset="-122"/>
                <a:cs typeface="Georgia" pitchFamily="34" charset="-120"/>
              </a:rPr>
              <a:t>04</a:t>
            </a:r>
            <a:endParaRPr lang="en-US" sz="1800" dirty="0"/>
          </a:p>
        </p:txBody>
      </p:sp>
      <p:sp>
        <p:nvSpPr>
          <p:cNvPr id="15" name="Text 13"/>
          <p:cNvSpPr/>
          <p:nvPr/>
        </p:nvSpPr>
        <p:spPr>
          <a:xfrm>
            <a:off x="6995160" y="3383280"/>
            <a:ext cx="4572000" cy="365760"/>
          </a:xfrm>
          <a:prstGeom prst="rect">
            <a:avLst/>
          </a:prstGeom>
          <a:noFill/>
          <a:ln/>
        </p:spPr>
        <p:txBody>
          <a:bodyPr wrap="square" lIns="0" tIns="0" rIns="0" bIns="0" rtlCol="0" anchor="ctr"/>
          <a:lstStyle/>
          <a:p>
            <a:pPr indent="0" marL="0">
              <a:buNone/>
            </a:pPr>
            <a:r>
              <a:rPr lang="en-US" sz="1800" dirty="0">
                <a:solidFill>
                  <a:srgbClr val="1B2420"/>
                </a:solidFill>
                <a:latin typeface="Georgia" pitchFamily="34" charset="0"/>
                <a:ea typeface="Georgia" pitchFamily="34" charset="-122"/>
                <a:cs typeface="Georgia" pitchFamily="34" charset="-120"/>
              </a:rPr>
              <a:t>G1–G4 before the rest</a:t>
            </a:r>
            <a:endParaRPr lang="en-US" sz="1800" dirty="0"/>
          </a:p>
        </p:txBody>
      </p:sp>
      <p:sp>
        <p:nvSpPr>
          <p:cNvPr id="16" name="Text 14"/>
          <p:cNvSpPr/>
          <p:nvPr/>
        </p:nvSpPr>
        <p:spPr>
          <a:xfrm>
            <a:off x="6263640" y="3840480"/>
            <a:ext cx="5349240" cy="1051560"/>
          </a:xfrm>
          <a:prstGeom prst="rect">
            <a:avLst/>
          </a:prstGeom>
          <a:noFill/>
          <a:ln/>
        </p:spPr>
        <p:txBody>
          <a:bodyPr wrap="square" lIns="0" tIns="0" rIns="0" bIns="0" rtlCol="0" anchor="ctr"/>
          <a:lstStyle/>
          <a:p>
            <a:pPr indent="0" marL="0">
              <a:buNone/>
            </a:pPr>
            <a:r>
              <a:rPr lang="en-US" sz="1500" dirty="0">
                <a:solidFill>
                  <a:srgbClr val="3B3F3A"/>
                </a:solidFill>
                <a:latin typeface="Arial" pitchFamily="34" charset="0"/>
                <a:ea typeface="Arial" pitchFamily="34" charset="-122"/>
                <a:cs typeface="Arial" pitchFamily="34" charset="-120"/>
              </a:rPr>
              <a:t>The CAP rows, the G4 controls, and the gap scan wait on that 2×2. Step 8 waits until the resonant comparison is in hand.</a:t>
            </a:r>
            <a:endParaRPr lang="en-US" sz="1500" dirty="0"/>
          </a:p>
        </p:txBody>
      </p:sp>
      <p:sp>
        <p:nvSpPr>
          <p:cNvPr id="17" name="Shape 15"/>
          <p:cNvSpPr/>
          <p:nvPr/>
        </p:nvSpPr>
        <p:spPr>
          <a:xfrm>
            <a:off x="640080" y="5486400"/>
            <a:ext cx="10911535" cy="868680"/>
          </a:xfrm>
          <a:prstGeom prst="rect">
            <a:avLst/>
          </a:prstGeom>
          <a:solidFill>
            <a:srgbClr val="1B2420"/>
          </a:solidFill>
          <a:ln/>
        </p:spPr>
      </p:sp>
      <p:sp>
        <p:nvSpPr>
          <p:cNvPr id="18" name="Text 16"/>
          <p:cNvSpPr/>
          <p:nvPr/>
        </p:nvSpPr>
        <p:spPr>
          <a:xfrm>
            <a:off x="914400" y="5596128"/>
            <a:ext cx="10362895" cy="658368"/>
          </a:xfrm>
          <a:prstGeom prst="rect">
            <a:avLst/>
          </a:prstGeom>
          <a:noFill/>
          <a:ln/>
        </p:spPr>
        <p:txBody>
          <a:bodyPr wrap="square" lIns="0" tIns="0" rIns="0" bIns="0" rtlCol="0" anchor="ctr"/>
          <a:lstStyle/>
          <a:p>
            <a:pPr indent="0" marL="0">
              <a:buNone/>
            </a:pPr>
            <a:r>
              <a:rPr lang="en-US" sz="1600" i="1" dirty="0">
                <a:solidFill>
                  <a:srgbClr val="EFE9D9"/>
                </a:solidFill>
                <a:latin typeface="Georgia" pitchFamily="34" charset="0"/>
                <a:ea typeface="Georgia" pitchFamily="34" charset="-122"/>
                <a:cs typeface="Georgia" pitchFamily="34" charset="-120"/>
              </a:rPr>
              <a:t>A file that still contains PLACEHOLDER_ is not an input. The Step 7 x tokens are radius plus that gap. Detuned tokens are only in Step 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Nanoparticle and CAP effects on a double core hole</dc:title>
  <dc:subject>jobs/final campaign plan</dc:subject>
  <dc:creator>PlasMol</dc:creator>
  <cp:lastModifiedBy>PlasMol</cp:lastModifiedBy>
  <cp:revision>1</cp:revision>
  <dcterms:created xsi:type="dcterms:W3CDTF">2026-09-25T15:28:25Z</dcterms:created>
  <dcterms:modified xsi:type="dcterms:W3CDTF">2026-09-25T15:28:25Z</dcterms:modified>
</cp:coreProperties>
</file>